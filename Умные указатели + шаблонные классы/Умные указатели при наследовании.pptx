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6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EBF84F-B9CE-42D6-8E1D-8532D17DDF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6ADC2A-EC8B-4DCD-92ED-8CED146451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F27FD5-84FC-4DAE-9B57-4AD7FEA9A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DA7352-D547-4788-80CF-B59F9C583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4907CFE-D60A-42F7-B8C3-DF99D3C2D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649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62D0A4-C742-4BE4-948B-72E3BCDA0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4C691D-670E-4892-85AC-788B78E5DF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7361FA-2C89-4F54-8586-BC0236B35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E1AA0A-807F-46CA-9362-5E472B96D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889B707-FCEB-47A4-954B-DF4830647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773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148AF6-DDD7-4EF4-AA6E-8B90B48AD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931E057-2139-4E4B-9671-7A045A795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5C6374-4A84-4BD4-8895-5914579A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3F4C18-CDAB-49C0-8AE3-272E49F9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00D4CE9-F4F1-45CD-B8E2-287DCFEF2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444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E7D267-1DED-4CF5-8D96-37B72C921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E5267F-8D03-4AD2-8E5B-767323D843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6F1FEB-6C55-4F92-A006-756C44777F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097759C-FF55-4AF4-9FA4-D044607D9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9C9308-1877-4781-BD8E-A26EE1063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C85AE7A-28B6-456D-BF4A-D67295935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292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476161-F72E-488B-BE7A-2603A8031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360D6A5-8B83-4F26-A8D7-55813BDFEE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DF3D924-D63D-444E-B7DA-2C30F76CFC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D75DCF-31BA-49F1-BE2B-F5DDC23F6E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0E4A8CF-BDCD-4A82-8CCD-F2FB5F667E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D48445F-A608-4AE5-A8EB-9768D8C20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F73EA1F-6C85-4C37-9BDB-C26F70FC9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1C1015E5-76E9-4C3E-AD2E-9381DB7F5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697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76643F-39A7-49E6-A0F3-E582B99C9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CF9A23-C4B2-481F-BF95-35C95DCD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87EB498-985E-4F5A-887E-4F1355E69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B63115B-A110-4001-96CE-8647814E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2600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62F80022-4BD7-4348-8629-E0117B477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FED769D9-D0C0-4B2C-B481-CE3CE9567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7E6651C-0A8E-4AB4-96C1-F76A8D3A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0131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41EB37-4884-48A7-BA04-25DBE4B40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D1170-E5AC-4EDC-97D1-F9E11AEC0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8567AAC-FE04-47B4-9AD9-0CE35C0E3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85CCF05-DB1C-4914-9F67-5B95BF797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2EE8B89-858D-438B-AB5C-5BBB7DB21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47B36C4-DC38-4AC3-AACB-D125616E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20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631466-A90A-4D84-834D-7E2949004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57CC872-6DC9-4713-97EF-29AC42AFF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DF8E87D-262B-4213-B163-A7BE5FA444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949DB09-E11D-42F8-B402-D9D11CAB4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AD1A64C-B121-4ED4-839B-A39B89D23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704470-41FA-44E5-94A8-2F6BCABBE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9712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F279D6-7B9A-4988-A92C-52B33469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A619DA5-ED6C-476C-9119-EC6C3244C6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86D7CE8-94A0-4B45-BBF0-FCC663AC2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ADDF71-9FCC-415C-B5E3-A8029E57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C3857-D1E1-4BA4-B258-D44FDB258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008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09D87CA-9A4F-4524-8651-38F583D26A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8DF2415-11B1-483F-9D54-5E2FF309AE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EC7D7C7-9491-43BE-BB9A-49D015CA7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0D3CF2-3E7C-4EFD-8983-1FF77AEBD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C78037-DA1D-4B7D-B52F-6B1426313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3449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2CC40E-5CD1-4E6F-B683-98206DF07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2B2B465-E827-4D2B-B202-948E71BD1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222A9D-A424-4FD7-9926-CEAFEDB0F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9A57-3F85-4E36-B325-876066FBDE5C}" type="datetimeFigureOut">
              <a:rPr lang="ru-RU" smtClean="0"/>
              <a:t>07.11.2025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F8DAC52-BD7F-4119-AFBB-235A9AF7CF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1DCB62-B20D-45B8-9A7B-040E7C0B10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2C565-E181-40CD-87EA-4A0D76797E4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4332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3ED1B9-87F7-4C8E-ABE8-C2F04C811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3999" cy="2391802"/>
          </a:xfrm>
        </p:spPr>
        <p:txBody>
          <a:bodyPr/>
          <a:lstStyle/>
          <a:p>
            <a:pPr algn="r"/>
            <a:r>
              <a:rPr lang="ru-RU" dirty="0"/>
              <a:t>Умные указатели при наследовании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D81B74A-DF81-4040-A00B-C79A7FD9F1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  <a:p>
            <a:pPr algn="r"/>
            <a:r>
              <a:rPr lang="ru-RU" dirty="0"/>
              <a:t>07.11.2025</a:t>
            </a:r>
          </a:p>
          <a:p>
            <a:pPr algn="r"/>
            <a:r>
              <a:rPr lang="ru-RU" dirty="0"/>
              <a:t>(дистанционное занятие)</a:t>
            </a:r>
          </a:p>
        </p:txBody>
      </p:sp>
    </p:spTree>
    <p:extLst>
      <p:ext uri="{BB962C8B-B14F-4D97-AF65-F5344CB8AC3E}">
        <p14:creationId xmlns:p14="http://schemas.microsoft.com/office/powerpoint/2010/main" val="1690491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8C590F-311E-4D14-9086-D17FAC1AB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rmAutofit fontScale="90000"/>
          </a:bodyPr>
          <a:lstStyle/>
          <a:p>
            <a:r>
              <a:rPr lang="ru-RU" dirty="0"/>
              <a:t>Вкратце об умных указателях</a:t>
            </a:r>
            <a:r>
              <a:rPr lang="en-US" dirty="0"/>
              <a:t> </a:t>
            </a:r>
            <a:r>
              <a:rPr lang="ru-RU" dirty="0"/>
              <a:t>и наследовании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0D07C1F-9516-4164-8E00-1BC26912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1553"/>
            <a:ext cx="10515600" cy="4168588"/>
          </a:xfrm>
        </p:spPr>
        <p:txBody>
          <a:bodyPr>
            <a:normAutofit/>
          </a:bodyPr>
          <a:lstStyle/>
          <a:p>
            <a:pPr lvl="1" algn="just"/>
            <a:r>
              <a:rPr lang="ru-RU" dirty="0"/>
              <a:t>Умные указатели управляют временем жизни объектов автоматически (RAII). Они инкапсулируют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ru-RU" dirty="0"/>
              <a:t>.</a:t>
            </a:r>
          </a:p>
          <a:p>
            <a:pPr lvl="1" algn="just"/>
            <a:r>
              <a:rPr lang="ru-RU" dirty="0"/>
              <a:t>При наследовании часто работаем с базовым типом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ru-RU" dirty="0"/>
              <a:t> и объектами производных классов 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ru-RU" dirty="0"/>
              <a:t>.</a:t>
            </a:r>
          </a:p>
          <a:p>
            <a:pPr lvl="1" algn="just"/>
            <a:r>
              <a:rPr lang="ru-RU" dirty="0"/>
              <a:t>Важное требование: указатель на базовый класс, через который будет удаляться объект производного класса, должен указывать на класс с виртуальным деструктором</a:t>
            </a:r>
            <a:r>
              <a:rPr lang="en-US" dirty="0"/>
              <a:t>:</a:t>
            </a:r>
          </a:p>
          <a:p>
            <a:pPr marL="457200" lvl="1" indent="0" algn="just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virtual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~Base() {} =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default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457200" lvl="1" indent="0" algn="just">
              <a:buNone/>
            </a:pPr>
            <a:endParaRPr lang="en-US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457200" lvl="1" indent="0" algn="just">
              <a:buNone/>
            </a:pPr>
            <a:r>
              <a:rPr lang="ru-RU" dirty="0"/>
              <a:t>В ином случае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delete</a:t>
            </a:r>
            <a:r>
              <a:rPr lang="ru-RU" dirty="0"/>
              <a:t> через Base* вызовет только деструктор Base</a:t>
            </a:r>
            <a:r>
              <a:rPr lang="en-US" dirty="0"/>
              <a:t>. </a:t>
            </a:r>
            <a:r>
              <a:rPr lang="ru-RU" dirty="0"/>
              <a:t>Следствие: </a:t>
            </a:r>
            <a:r>
              <a:rPr lang="ru-RU" dirty="0" err="1"/>
              <a:t>undefined</a:t>
            </a:r>
            <a:r>
              <a:rPr lang="ru-RU" dirty="0"/>
              <a:t> </a:t>
            </a:r>
            <a:r>
              <a:rPr lang="ru-RU" dirty="0" err="1"/>
              <a:t>behaviour</a:t>
            </a:r>
            <a:r>
              <a:rPr lang="ru-RU" dirty="0"/>
              <a:t> / утечка ресурсов.</a:t>
            </a:r>
          </a:p>
        </p:txBody>
      </p:sp>
    </p:spTree>
    <p:extLst>
      <p:ext uri="{BB962C8B-B14F-4D97-AF65-F5344CB8AC3E}">
        <p14:creationId xmlns:p14="http://schemas.microsoft.com/office/powerpoint/2010/main" val="1689297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6ADB3C-F036-40B1-A4FA-252E560DF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7887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9AC1F1-9B25-4A7E-BEDC-985552192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5001"/>
            <a:ext cx="10515600" cy="3933824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Написать базовый класс </a:t>
            </a:r>
            <a:r>
              <a:rPr lang="en-US" b="1" dirty="0"/>
              <a:t>Base</a:t>
            </a:r>
            <a:r>
              <a:rPr lang="en-US" dirty="0"/>
              <a:t>, </a:t>
            </a:r>
            <a:r>
              <a:rPr lang="ru-RU" dirty="0"/>
              <a:t>который содержит </a:t>
            </a:r>
            <a:r>
              <a:rPr lang="ru-RU" i="1" dirty="0"/>
              <a:t>виртуальный</a:t>
            </a:r>
            <a:r>
              <a:rPr lang="ru-RU" dirty="0"/>
              <a:t> деструктор с сообщением о его вызове (простой </a:t>
            </a: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ru-RU" i="1" dirty="0"/>
              <a:t>виртуальный</a:t>
            </a:r>
            <a:r>
              <a:rPr lang="ru-RU" dirty="0"/>
              <a:t> метод </a:t>
            </a:r>
            <a:r>
              <a:rPr lang="en-US" dirty="0"/>
              <a:t>say(), </a:t>
            </a:r>
            <a:r>
              <a:rPr lang="ru-RU" dirty="0"/>
              <a:t>который также выводит сообщение о вызове этого метода (</a:t>
            </a:r>
            <a:r>
              <a:rPr lang="en-US" dirty="0"/>
              <a:t>“</a:t>
            </a:r>
            <a:r>
              <a:rPr lang="ru-RU" dirty="0"/>
              <a:t>Говорит </a:t>
            </a:r>
            <a:r>
              <a:rPr lang="en-US" dirty="0"/>
              <a:t>Base”</a:t>
            </a:r>
            <a:r>
              <a:rPr lang="ru-RU" dirty="0"/>
              <a:t>)</a:t>
            </a:r>
          </a:p>
          <a:p>
            <a:pPr algn="just"/>
            <a:r>
              <a:rPr lang="ru-RU" dirty="0"/>
              <a:t>Написать дочерний класс </a:t>
            </a:r>
            <a:r>
              <a:rPr lang="en-US" b="1" dirty="0"/>
              <a:t>Derived</a:t>
            </a:r>
            <a:r>
              <a:rPr lang="en-US" dirty="0"/>
              <a:t>, </a:t>
            </a:r>
            <a:r>
              <a:rPr lang="ru-RU" dirty="0"/>
              <a:t>который содержит деструктор с сообщением о его вызове (простой </a:t>
            </a:r>
            <a:r>
              <a:rPr lang="en-US" dirty="0"/>
              <a:t>std::</a:t>
            </a:r>
            <a:r>
              <a:rPr lang="en-US" dirty="0" err="1"/>
              <a:t>cout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ru-RU" dirty="0"/>
              <a:t>и метод </a:t>
            </a:r>
            <a:r>
              <a:rPr lang="en-US" dirty="0"/>
              <a:t>say(), </a:t>
            </a:r>
            <a:r>
              <a:rPr lang="ru-RU" dirty="0"/>
              <a:t>который также выводит сообщение о вызове этого метода</a:t>
            </a:r>
            <a:r>
              <a:rPr lang="en-US" dirty="0"/>
              <a:t> </a:t>
            </a:r>
            <a:r>
              <a:rPr lang="ru-RU" dirty="0"/>
              <a:t>(</a:t>
            </a:r>
            <a:r>
              <a:rPr lang="en-US" dirty="0"/>
              <a:t>“</a:t>
            </a:r>
            <a:r>
              <a:rPr lang="ru-RU" dirty="0"/>
              <a:t>Говорит </a:t>
            </a:r>
            <a:r>
              <a:rPr lang="en-US" dirty="0"/>
              <a:t>Derived”</a:t>
            </a:r>
            <a:r>
              <a:rPr lang="ru-RU" dirty="0"/>
              <a:t>)</a:t>
            </a:r>
            <a:r>
              <a:rPr lang="en-US" dirty="0"/>
              <a:t>. </a:t>
            </a:r>
            <a:r>
              <a:rPr lang="ru-RU" dirty="0"/>
              <a:t>Дочерний класс </a:t>
            </a:r>
            <a:r>
              <a:rPr lang="ru-RU" i="1" dirty="0"/>
              <a:t>публично</a:t>
            </a:r>
            <a:r>
              <a:rPr lang="ru-RU" dirty="0"/>
              <a:t> наследуется от класса </a:t>
            </a:r>
            <a:r>
              <a:rPr lang="en-US" b="1" dirty="0"/>
              <a:t>Base</a:t>
            </a:r>
            <a:endParaRPr lang="en-US" dirty="0"/>
          </a:p>
          <a:p>
            <a:pPr algn="just"/>
            <a:endParaRPr lang="ru-RU" b="1" dirty="0"/>
          </a:p>
          <a:p>
            <a:pPr algn="just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4881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C99563-2F24-41CF-8AE7-41CE52117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604"/>
          </a:xfrm>
        </p:spPr>
        <p:txBody>
          <a:bodyPr/>
          <a:lstStyle/>
          <a:p>
            <a:r>
              <a:rPr lang="ru-RU" dirty="0"/>
              <a:t>Пример наследования</a:t>
            </a:r>
            <a:r>
              <a:rPr lang="en-US" dirty="0"/>
              <a:t> (</a:t>
            </a:r>
            <a:r>
              <a:rPr lang="ru-RU" dirty="0"/>
              <a:t>решение</a:t>
            </a:r>
            <a:r>
              <a:rPr lang="en-US" dirty="0"/>
              <a:t>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FB8D8E0-5D20-42F9-AF0F-F52D3F3A4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9529"/>
            <a:ext cx="10515600" cy="478743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~Base() { 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Деструктор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say() { 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Base\n"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~Derived()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Деструктор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say()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 –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ключевое слово означает, что вызов функции будет определяться динамически (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runtime –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в процессе выполнения кода)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 – </a:t>
            </a: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проверка на совпадение сигнатуры функций базового и дочернего классов (возвращаемый тип, аргументы)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13437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99DC1C-DA5A-447D-87C4-EF2F85E0B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F86557-6886-44D9-8158-2C7D66FF9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5450"/>
            <a:ext cx="10515600" cy="4495799"/>
          </a:xfrm>
        </p:spPr>
        <p:txBody>
          <a:bodyPr/>
          <a:lstStyle/>
          <a:p>
            <a:pPr algn="just"/>
            <a:r>
              <a:rPr lang="ru-RU" dirty="0"/>
              <a:t>В функции </a:t>
            </a:r>
            <a:r>
              <a:rPr lang="en-US" dirty="0"/>
              <a:t>main() </a:t>
            </a:r>
            <a:r>
              <a:rPr lang="ru-RU" dirty="0"/>
              <a:t>создать уникальный указатель </a:t>
            </a:r>
            <a:r>
              <a:rPr lang="en-US" dirty="0"/>
              <a:t>u_ptr1 </a:t>
            </a:r>
            <a:r>
              <a:rPr lang="ru-RU" dirty="0"/>
              <a:t>типа </a:t>
            </a:r>
            <a:r>
              <a:rPr lang="ru-RU" b="1" dirty="0"/>
              <a:t>базового класса</a:t>
            </a:r>
            <a:r>
              <a:rPr lang="ru-RU" dirty="0"/>
              <a:t>. Инициализировать умный указатель с помощью создания объекта </a:t>
            </a:r>
            <a:r>
              <a:rPr lang="ru-RU" b="1" dirty="0"/>
              <a:t>дочернего класса</a:t>
            </a:r>
            <a:r>
              <a:rPr lang="ru-RU" dirty="0"/>
              <a:t>.</a:t>
            </a:r>
          </a:p>
          <a:p>
            <a:pPr algn="just"/>
            <a:r>
              <a:rPr lang="ru-RU" dirty="0"/>
              <a:t>Вызвать метод </a:t>
            </a:r>
            <a:r>
              <a:rPr lang="en-US" dirty="0"/>
              <a:t>say() </a:t>
            </a:r>
            <a:r>
              <a:rPr lang="ru-RU" dirty="0"/>
              <a:t>через получившийся указатель.</a:t>
            </a:r>
            <a:r>
              <a:rPr lang="en-US" dirty="0"/>
              <a:t> </a:t>
            </a:r>
            <a:r>
              <a:rPr lang="ru-RU" dirty="0"/>
              <a:t>Что будет выведено?</a:t>
            </a:r>
          </a:p>
          <a:p>
            <a:pPr algn="just"/>
            <a:r>
              <a:rPr lang="ru-RU" dirty="0"/>
              <a:t> Создать второй уникальный указатель</a:t>
            </a:r>
            <a:r>
              <a:rPr lang="en-US" dirty="0"/>
              <a:t> u_ptr2</a:t>
            </a:r>
            <a:r>
              <a:rPr lang="ru-RU" dirty="0"/>
              <a:t> и с помощью метода </a:t>
            </a:r>
            <a:r>
              <a:rPr lang="en-US" dirty="0"/>
              <a:t>std::move </a:t>
            </a:r>
            <a:r>
              <a:rPr lang="ru-RU" dirty="0"/>
              <a:t>передать владение объектом, на который указывает</a:t>
            </a:r>
            <a:r>
              <a:rPr lang="en-US" dirty="0"/>
              <a:t> u_ptr1. </a:t>
            </a:r>
            <a:r>
              <a:rPr lang="ru-RU" dirty="0"/>
              <a:t>Какое значение станет у </a:t>
            </a:r>
            <a:r>
              <a:rPr lang="en-US" dirty="0"/>
              <a:t>u_ptr1?</a:t>
            </a:r>
          </a:p>
          <a:p>
            <a:pPr algn="just"/>
            <a:r>
              <a:rPr lang="ru-RU" dirty="0"/>
              <a:t>Запустить программу и понаблюдать за вызовом деструкторов</a:t>
            </a:r>
          </a:p>
          <a:p>
            <a:pPr lvl="1"/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886509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75261B-AEFF-4FF9-87E4-BAD1DBFBA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Работа с </a:t>
            </a:r>
            <a:r>
              <a:rPr lang="en-US" sz="40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std::</a:t>
            </a:r>
            <a:r>
              <a:rPr lang="en-US" sz="40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unique_ptr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FE7BCE-215A-4AC4-BA84-28AEBC01A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625" y="1825625"/>
            <a:ext cx="788893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setlocale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</a:t>
            </a:r>
            <a:r>
              <a:rPr lang="en-US" sz="1600" dirty="0">
                <a:solidFill>
                  <a:srgbClr val="6F008A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LC_ALL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,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""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);</a:t>
            </a: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unique_ptr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p = 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make_unique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say();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ru-RU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6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unique_ptr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q = std::move(p);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(!p) std::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"p is null\n“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Будет</a:t>
            </a:r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600" dirty="0" err="1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напечатано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return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sz="2400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3FD6801-747C-43C9-AB29-42B321F347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38564" y="1825625"/>
            <a:ext cx="3603811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/>
              <a:t>Вывод</a:t>
            </a:r>
            <a:br>
              <a:rPr lang="ru-RU" dirty="0"/>
            </a:b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D1FA4EE1-34EF-498A-B9F9-569E99BD9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1681" y="3253581"/>
            <a:ext cx="3457575" cy="149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74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D7CC1D-F1E4-470A-BEF0-0CEDAF6F1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CA1CC12-897A-43B9-A982-48ACECE2D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4487"/>
            <a:ext cx="10515600" cy="3629025"/>
          </a:xfrm>
        </p:spPr>
        <p:txBody>
          <a:bodyPr>
            <a:normAutofit/>
          </a:bodyPr>
          <a:lstStyle/>
          <a:p>
            <a:pPr algn="just"/>
            <a:r>
              <a:rPr lang="ru-RU" dirty="0"/>
              <a:t>В </a:t>
            </a:r>
            <a:r>
              <a:rPr lang="ru-RU" b="1" dirty="0"/>
              <a:t>базовом</a:t>
            </a:r>
            <a:r>
              <a:rPr lang="ru-RU" dirty="0"/>
              <a:t> классе создать новое поле </a:t>
            </a:r>
            <a:r>
              <a:rPr lang="en-US" dirty="0"/>
              <a:t>std::</a:t>
            </a:r>
            <a:r>
              <a:rPr lang="en-US" dirty="0" err="1"/>
              <a:t>shared_ptr</a:t>
            </a:r>
            <a:r>
              <a:rPr lang="en-US" dirty="0"/>
              <a:t>&lt;Derived&gt;. </a:t>
            </a:r>
            <a:r>
              <a:rPr lang="ru-RU" dirty="0"/>
              <a:t>Назвать поле </a:t>
            </a:r>
            <a:r>
              <a:rPr lang="en-US" i="1" dirty="0" err="1"/>
              <a:t>derived_ptr</a:t>
            </a:r>
            <a:endParaRPr lang="en-US" i="1" dirty="0"/>
          </a:p>
          <a:p>
            <a:pPr algn="just"/>
            <a:r>
              <a:rPr lang="ru-RU" dirty="0"/>
              <a:t>В </a:t>
            </a:r>
            <a:r>
              <a:rPr lang="ru-RU" b="1" dirty="0"/>
              <a:t>дочернем</a:t>
            </a:r>
            <a:r>
              <a:rPr lang="ru-RU" dirty="0"/>
              <a:t> классе создать новое поле </a:t>
            </a:r>
            <a:r>
              <a:rPr lang="en-US" dirty="0"/>
              <a:t>std::</a:t>
            </a:r>
            <a:r>
              <a:rPr lang="en-US" dirty="0" err="1"/>
              <a:t>shared_ptr</a:t>
            </a:r>
            <a:r>
              <a:rPr lang="en-US" dirty="0"/>
              <a:t>&lt;Base&gt;. </a:t>
            </a:r>
            <a:r>
              <a:rPr lang="ru-RU" dirty="0"/>
              <a:t>Назвать поле </a:t>
            </a:r>
            <a:r>
              <a:rPr lang="en-US" i="1" dirty="0" err="1"/>
              <a:t>base_ptr</a:t>
            </a:r>
            <a:endParaRPr lang="en-US" i="1" dirty="0"/>
          </a:p>
          <a:p>
            <a:pPr algn="just"/>
            <a:r>
              <a:rPr lang="ru-RU" dirty="0"/>
              <a:t>В функции </a:t>
            </a:r>
            <a:r>
              <a:rPr lang="en-US" dirty="0"/>
              <a:t>main() </a:t>
            </a:r>
            <a:r>
              <a:rPr lang="ru-RU" dirty="0"/>
              <a:t>создать два</a:t>
            </a:r>
            <a:r>
              <a:rPr lang="en-US" dirty="0"/>
              <a:t> </a:t>
            </a:r>
            <a:r>
              <a:rPr lang="ru-RU" dirty="0"/>
              <a:t>умных указателя</a:t>
            </a:r>
            <a:r>
              <a:rPr lang="en-US" dirty="0"/>
              <a:t> </a:t>
            </a:r>
            <a:r>
              <a:rPr lang="en-US" i="1" dirty="0"/>
              <a:t>std::</a:t>
            </a:r>
            <a:r>
              <a:rPr lang="en-US" i="1" dirty="0" err="1"/>
              <a:t>shared_ptr</a:t>
            </a:r>
            <a:r>
              <a:rPr lang="ru-RU" i="1" dirty="0"/>
              <a:t>.</a:t>
            </a:r>
            <a:r>
              <a:rPr lang="ru-RU" dirty="0"/>
              <a:t> Инициализировать поля с помощью</a:t>
            </a:r>
            <a:r>
              <a:rPr lang="en-US" dirty="0"/>
              <a:t> </a:t>
            </a:r>
            <a:r>
              <a:rPr lang="en-US" i="1" dirty="0"/>
              <a:t>std::</a:t>
            </a:r>
            <a:r>
              <a:rPr lang="en-US" i="1" dirty="0" err="1"/>
              <a:t>make_shared</a:t>
            </a:r>
            <a:r>
              <a:rPr lang="en-US" i="1" dirty="0"/>
              <a:t>&lt;&gt;</a:t>
            </a:r>
            <a:r>
              <a:rPr lang="ru-RU" dirty="0"/>
              <a:t>. Первый указатель</a:t>
            </a:r>
            <a:r>
              <a:rPr lang="en-US" dirty="0"/>
              <a:t> (</a:t>
            </a:r>
            <a:r>
              <a:rPr lang="ru-RU" dirty="0"/>
              <a:t>название </a:t>
            </a:r>
            <a:r>
              <a:rPr lang="en-US" i="1" dirty="0"/>
              <a:t>parent</a:t>
            </a:r>
            <a:r>
              <a:rPr lang="en-US" dirty="0"/>
              <a:t>)</a:t>
            </a:r>
            <a:r>
              <a:rPr lang="ru-RU" dirty="0"/>
              <a:t> должен владеть объектом </a:t>
            </a:r>
            <a:r>
              <a:rPr lang="ru-RU" b="1" dirty="0"/>
              <a:t>базового</a:t>
            </a:r>
            <a:r>
              <a:rPr lang="ru-RU" dirty="0"/>
              <a:t> класса, а второй – объектом </a:t>
            </a:r>
            <a:r>
              <a:rPr lang="ru-RU" b="1" dirty="0"/>
              <a:t>дочернего</a:t>
            </a:r>
            <a:r>
              <a:rPr lang="ru-RU" dirty="0"/>
              <a:t> класса</a:t>
            </a:r>
            <a:r>
              <a:rPr lang="en-US" dirty="0"/>
              <a:t> (</a:t>
            </a:r>
            <a:r>
              <a:rPr lang="ru-RU" dirty="0"/>
              <a:t>название </a:t>
            </a:r>
            <a:r>
              <a:rPr lang="en-US" i="1" dirty="0"/>
              <a:t>child</a:t>
            </a:r>
            <a:r>
              <a:rPr lang="en-US" dirty="0"/>
              <a:t>)</a:t>
            </a:r>
            <a:endParaRPr lang="ru-RU" dirty="0"/>
          </a:p>
          <a:p>
            <a:pPr algn="just"/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3805334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5358C2-5B3C-41E6-9C64-447D5AAF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7850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EDF9006-137E-4E06-883D-86EED090E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19200"/>
            <a:ext cx="10515600" cy="516255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  <a:endParaRPr lang="en-US" sz="1800" dirty="0">
              <a:solidFill>
                <a:srgbClr val="0000FF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shared_ptr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~Base()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Деструктор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say()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shared_ptr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~Derived()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Деструктор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say()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parent =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make_shared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child =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make_shared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37937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EDF0D3-7132-4EDD-BEB3-FB0B08731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6425"/>
          </a:xfrm>
        </p:spPr>
        <p:txBody>
          <a:bodyPr>
            <a:normAutofit fontScale="90000"/>
          </a:bodyPr>
          <a:lstStyle/>
          <a:p>
            <a:r>
              <a:rPr lang="ru-RU" dirty="0"/>
              <a:t>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1AFD7-972D-4788-82CE-C8FD88270F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81200"/>
            <a:ext cx="10515600" cy="2924175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dirty="0"/>
              <a:t>Обратиться к полю </a:t>
            </a:r>
            <a:r>
              <a:rPr lang="en-US" i="1" dirty="0" err="1"/>
              <a:t>derived_ptr</a:t>
            </a:r>
            <a:r>
              <a:rPr lang="en-US" dirty="0"/>
              <a:t> </a:t>
            </a:r>
            <a:r>
              <a:rPr lang="ru-RU" dirty="0"/>
              <a:t>объекта базового класса. Присвоить данному полю объект, которым владеет указатель </a:t>
            </a:r>
            <a:r>
              <a:rPr lang="en-US" i="1" dirty="0"/>
              <a:t>child</a:t>
            </a:r>
            <a:r>
              <a:rPr lang="ru-RU" dirty="0"/>
              <a:t> </a:t>
            </a:r>
            <a:endParaRPr lang="en-US" dirty="0"/>
          </a:p>
          <a:p>
            <a:pPr algn="just"/>
            <a:r>
              <a:rPr lang="ru-RU" dirty="0"/>
              <a:t>Обратиться к полю </a:t>
            </a:r>
            <a:r>
              <a:rPr lang="en-US" i="1" dirty="0" err="1"/>
              <a:t>base_ptr</a:t>
            </a:r>
            <a:r>
              <a:rPr lang="en-US" dirty="0"/>
              <a:t> </a:t>
            </a:r>
            <a:r>
              <a:rPr lang="ru-RU" dirty="0"/>
              <a:t>объекта дочернего класса. Присвоить данному полю объект, которым владеет указатель </a:t>
            </a:r>
            <a:r>
              <a:rPr lang="en-US" i="1" dirty="0"/>
              <a:t>parent</a:t>
            </a:r>
            <a:r>
              <a:rPr lang="ru-RU" dirty="0"/>
              <a:t> </a:t>
            </a:r>
          </a:p>
          <a:p>
            <a:pPr algn="just"/>
            <a:r>
              <a:rPr lang="ru-RU" dirty="0"/>
              <a:t>Вывести количество владельцев</a:t>
            </a:r>
            <a:r>
              <a:rPr lang="en-US" dirty="0"/>
              <a:t> </a:t>
            </a:r>
            <a:r>
              <a:rPr lang="ru-RU" dirty="0"/>
              <a:t>получившихся объектов класса с помощью метода </a:t>
            </a:r>
            <a:r>
              <a:rPr lang="en-US" i="1" dirty="0" err="1"/>
              <a:t>use_count</a:t>
            </a:r>
            <a:r>
              <a:rPr lang="en-US" i="1" dirty="0"/>
              <a:t>()</a:t>
            </a:r>
            <a:endParaRPr lang="ru-RU" i="1" dirty="0"/>
          </a:p>
          <a:p>
            <a:r>
              <a:rPr lang="ru-RU" dirty="0"/>
              <a:t>Понаблюдать за выводом программы</a:t>
            </a:r>
          </a:p>
        </p:txBody>
      </p:sp>
    </p:spTree>
    <p:extLst>
      <p:ext uri="{BB962C8B-B14F-4D97-AF65-F5344CB8AC3E}">
        <p14:creationId xmlns:p14="http://schemas.microsoft.com/office/powerpoint/2010/main" val="23903764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9C74B-309F-49AD-AC99-2F861FF0E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4525"/>
          </a:xfrm>
        </p:spPr>
        <p:txBody>
          <a:bodyPr>
            <a:normAutofit fontScale="90000"/>
          </a:bodyPr>
          <a:lstStyle/>
          <a:p>
            <a:r>
              <a:rPr lang="ru-RU" dirty="0"/>
              <a:t>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FB5345-DB67-41A1-9E09-8FDC376DF8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3875" y="1825625"/>
            <a:ext cx="75438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main()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parent =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make_shared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auto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child =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make_shared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&gt;();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child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parent;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parent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-&gt;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child;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parent.use_count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 ‘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	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child.use_count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()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'\n'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"End of main\n"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return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0;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9852664-E589-4353-8B80-DD5AA0D91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1024" y="1825625"/>
            <a:ext cx="3152775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Вывод: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2DA7AC2-5ADD-4AFE-9074-DE38FE87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1024" y="2952750"/>
            <a:ext cx="3686175" cy="95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54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989BAC-33C7-4035-B25F-BF13E9EC7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9775"/>
          </a:xfrm>
        </p:spPr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E7A61C44-B18B-47E8-A5F8-2ED6133A23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00175"/>
            <a:ext cx="10515600" cy="50927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Деструкторы не были вызваны. Поэтому необходимо в одном из классов объявить поле </a:t>
            </a:r>
            <a:r>
              <a:rPr lang="en-US" i="1" dirty="0"/>
              <a:t>std::</a:t>
            </a:r>
            <a:r>
              <a:rPr lang="en-US" i="1" dirty="0" err="1"/>
              <a:t>weak_ptr</a:t>
            </a:r>
            <a:r>
              <a:rPr lang="en-US" i="1" dirty="0"/>
              <a:t>&lt;&gt;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shared_ptr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~Base()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Деструктор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virtual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say()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</a:p>
          <a:p>
            <a:pPr marL="0" indent="0">
              <a:buNone/>
            </a:pPr>
            <a:endParaRPr lang="ru-RU" sz="1800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class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: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public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: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std::</a:t>
            </a:r>
            <a:r>
              <a:rPr lang="en-US" sz="1800" b="1" dirty="0" err="1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weak_ptr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</a:t>
            </a:r>
            <a:r>
              <a:rPr lang="en-US" sz="1800" dirty="0">
                <a:solidFill>
                  <a:srgbClr val="2B91A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&gt; 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base_ptr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</a:t>
            </a:r>
            <a:r>
              <a:rPr lang="en-US" sz="1800" b="1" dirty="0">
                <a:solidFill>
                  <a:srgbClr val="008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// weak pointer</a:t>
            </a:r>
            <a:endParaRPr lang="en-US" sz="1800" b="1" dirty="0">
              <a:solidFill>
                <a:srgbClr val="000000"/>
              </a:solidFill>
              <a:highlight>
                <a:srgbClr val="FFFFFF"/>
              </a:highlight>
              <a:latin typeface="Cascadia Mono" panose="020B0609020000020004" pitchFamily="49" charset="0"/>
            </a:endParaRP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~Derived()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Деструктор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  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void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say() </a:t>
            </a:r>
            <a:r>
              <a:rPr lang="en-US" sz="1800" dirty="0">
                <a:solidFill>
                  <a:srgbClr val="0000FF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override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{ std::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cout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00808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&lt;&lt;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"</a:t>
            </a:r>
            <a:r>
              <a:rPr lang="ru-RU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Говорит </a:t>
            </a:r>
            <a:r>
              <a:rPr lang="en-US" sz="1800" dirty="0">
                <a:solidFill>
                  <a:srgbClr val="A31515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Derived\n"</a:t>
            </a:r>
            <a:r>
              <a:rPr lang="en-US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; }</a:t>
            </a:r>
          </a:p>
          <a:p>
            <a:pPr marL="0" indent="0">
              <a:buNone/>
            </a:pPr>
            <a:r>
              <a:rPr lang="ru-RU" sz="1800" dirty="0">
                <a:solidFill>
                  <a:srgbClr val="000000"/>
                </a:solidFill>
                <a:highlight>
                  <a:srgbClr val="FFFFFF"/>
                </a:highlight>
                <a:latin typeface="Cascadia Mono" panose="020B0609020000020004" pitchFamily="49" charset="0"/>
              </a:rPr>
              <a:t>};</a:t>
            </a:r>
            <a:endParaRPr lang="ru-RU" i="1" dirty="0"/>
          </a:p>
        </p:txBody>
      </p:sp>
    </p:spTree>
    <p:extLst>
      <p:ext uri="{BB962C8B-B14F-4D97-AF65-F5344CB8AC3E}">
        <p14:creationId xmlns:p14="http://schemas.microsoft.com/office/powerpoint/2010/main" val="2609475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988</Words>
  <Application>Microsoft Office PowerPoint</Application>
  <PresentationFormat>Широкоэкранный</PresentationFormat>
  <Paragraphs>110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Cascadia Mono</vt:lpstr>
      <vt:lpstr>Тема Office</vt:lpstr>
      <vt:lpstr>Умные указатели при наследовании</vt:lpstr>
      <vt:lpstr>Вкратце об умных указателях и наследовании</vt:lpstr>
      <vt:lpstr>Задание</vt:lpstr>
      <vt:lpstr>Пример наследования (решение)</vt:lpstr>
      <vt:lpstr>Задание</vt:lpstr>
      <vt:lpstr>Работа с std::unique_ptr</vt:lpstr>
      <vt:lpstr>Задание</vt:lpstr>
      <vt:lpstr>Решение</vt:lpstr>
      <vt:lpstr>Задание</vt:lpstr>
      <vt:lpstr>Решение</vt:lpstr>
      <vt:lpstr>Проблема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Умные указатели при наследовании</dc:title>
  <dc:creator>varitch.rodion.2@gmail.com</dc:creator>
  <cp:lastModifiedBy>varitch.rodion.2@gmail.com</cp:lastModifiedBy>
  <cp:revision>14</cp:revision>
  <dcterms:created xsi:type="dcterms:W3CDTF">2025-11-07T13:59:31Z</dcterms:created>
  <dcterms:modified xsi:type="dcterms:W3CDTF">2025-11-07T15:23:01Z</dcterms:modified>
</cp:coreProperties>
</file>