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63" r:id="rId6"/>
    <p:sldId id="261" r:id="rId7"/>
    <p:sldId id="259" r:id="rId8"/>
    <p:sldId id="260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10DD80-09D3-4A8B-A86F-E15D3DB3C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F42527A-3AF4-4140-AFE1-9E96BF13F1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210D39-35D6-48CE-B4BB-D0EF92017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F24F14-9C9A-4EE4-BCBE-19E08BDD7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038153-7C9F-44AB-AF02-D83CC5E0D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970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57D116-5811-44E7-8386-7DEC582A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CEAC4F-9583-4E13-9B51-A4ABCC775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9D187-DF25-4E19-A898-6ED795756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59C066-6DEE-4D52-A46B-9931F24A8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75C520-5E2A-460C-9741-9ECCC356E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0695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1662F9-9DEC-4069-81E1-33822D61E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5604FF-933E-4E06-BFE9-04A743C9E9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B49476-F60B-4912-80B1-48A54906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28928F-FC5F-4414-9A72-6CD051448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DAB6C8-1E32-4D61-9775-09AB53A76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0589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3F830-3F9F-4E0A-825E-5FD2F9789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0A5D52-3271-4B61-8130-E52853B46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8C2145A-B260-401E-8394-3AD7BB97F4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3E1187F-B4A4-431E-885F-1797A0773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89E3F42-847F-477F-92AE-C39C99A0A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82262B-9D5E-4583-A68B-2CF8D188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883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21966-3D1B-4B65-8178-0D54EB89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D9E28D-4057-49C1-97F4-148CE4898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813C08E-A42D-4F46-A370-B222D2A49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D4FBC4-696C-4339-BEF9-9375BC7B4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C58B094-09DC-4DD0-AFB5-6512F6D092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7B6F16B-486D-41C1-ACD1-014A80B47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1A5F663-3DC0-4F83-AE7C-B4311152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4B4280F-85C2-4526-8CA1-7EFCE1D30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041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507456-2CF6-4A73-B746-69CB055C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69EADAA-2623-4616-8E62-AB3471C17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986322-DB87-4AD9-96F3-CFA6CFFB4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1043018-896C-42DC-BD48-0F9B9983E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5939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5AA4DE6-39A5-4E1E-98D4-F77CBEE26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B9EC70A-8E3B-48A3-9A65-424EF1309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8E7876-D92E-47F5-A3A4-EBB845382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06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BE814-C8C9-4E04-9AC6-A7F412005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BC7B42-0A29-40C7-9829-9F7AE0673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77F649B-6D0F-409B-9EB2-133D2EBA2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44C159-7E7C-40ED-ADEC-F254A5C3A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EB62A8E-AA78-4E8A-B332-95D906212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5FD46E2-9460-41BD-859A-1C618C44D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0906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1BF1DE-E4C5-4FC1-9635-626782F72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37D5371-B0D0-47DF-81F4-E0946B95F3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3FC56F1-4BFC-4AE8-8961-C1F68C716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1FA40C-E065-48E5-9CDD-BDA8E95E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2B1F9C9-366A-480D-BA02-F9726AF5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33677CB-CFD5-404A-8D63-CC6BEB95B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0697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C94227-8A07-4849-93D1-9CA723340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97F866C-D5BB-4F22-834E-E0584FCB0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73347E-AD57-428D-9A7D-F7DF41BC1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DDE42F-4CC3-4351-9C5A-B5A3781EC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D4F755-44C6-4FDC-A48A-2012438D4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2441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4D5169-3A8C-4714-9745-5688BBF02F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4C2A951-0D37-4676-9D55-B4136CB10C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DAB382-12BC-4097-B272-EB72AB323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A7BC8B-9B2A-4755-8860-2C97183BD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593B60-F057-4C30-9B52-59396C4F0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6305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E9475D-8037-41DC-B3BC-23C27B1E9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3BE64E-F173-4DD7-B52F-9068F99F3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C4FB98-AF34-44D5-868D-E89EE8763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770936-C4BF-4B0D-AAB7-323CA1CCEBF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BAA18B-9DD7-41AA-A6D0-4E09E1A754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B7B1E26-095B-4607-890E-5B4814926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AC19F-280A-4FFB-8651-62813B9263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565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C97102-99ED-4C22-9E26-9CD64BF29C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/>
            <a:r>
              <a:rPr lang="ru-RU" dirty="0"/>
              <a:t>Умные указатели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AEB784E-89C0-405F-97EB-86070AA08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r"/>
            <a:endParaRPr lang="ru-RU" dirty="0"/>
          </a:p>
          <a:p>
            <a:pPr algn="r"/>
            <a:endParaRPr lang="ru-RU" dirty="0"/>
          </a:p>
          <a:p>
            <a:pPr algn="r"/>
            <a:endParaRPr lang="ru-RU" dirty="0"/>
          </a:p>
          <a:p>
            <a:pPr algn="r"/>
            <a:r>
              <a:rPr lang="ru-RU" dirty="0"/>
              <a:t>06.11.2025</a:t>
            </a:r>
          </a:p>
        </p:txBody>
      </p:sp>
    </p:spTree>
    <p:extLst>
      <p:ext uri="{BB962C8B-B14F-4D97-AF65-F5344CB8AC3E}">
        <p14:creationId xmlns:p14="http://schemas.microsoft.com/office/powerpoint/2010/main" val="119539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654800-048C-43E1-9950-5A1BD8570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4776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006620-0440-421E-ABEF-560D11F2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/>
              <a:t>«Уникальный» указатель</a:t>
            </a:r>
          </a:p>
          <a:p>
            <a:pPr algn="just"/>
            <a:r>
              <a:rPr lang="ru-RU" dirty="0"/>
              <a:t>Идея: единоличное владение объектом</a:t>
            </a:r>
          </a:p>
          <a:p>
            <a:pPr algn="just"/>
            <a:r>
              <a:rPr lang="ru-RU" dirty="0"/>
              <a:t>Следствие из идеи: копировать нельзя (оператор </a:t>
            </a:r>
            <a:r>
              <a:rPr lang="en-US" dirty="0"/>
              <a:t>“</a:t>
            </a:r>
            <a:r>
              <a:rPr lang="ru-RU" dirty="0"/>
              <a:t>=</a:t>
            </a:r>
            <a:r>
              <a:rPr lang="en-US" dirty="0"/>
              <a:t>“</a:t>
            </a:r>
            <a:r>
              <a:rPr lang="ru-RU" dirty="0"/>
              <a:t> не работает)</a:t>
            </a:r>
          </a:p>
          <a:p>
            <a:pPr algn="just"/>
            <a:r>
              <a:rPr lang="ru-RU" dirty="0"/>
              <a:t>Вместо копирования работает перемещение (</a:t>
            </a:r>
            <a:r>
              <a:rPr lang="en-US" dirty="0">
                <a:latin typeface="Consolas" panose="020B0609020204030204" pitchFamily="49" charset="0"/>
              </a:rPr>
              <a:t>std::move()</a:t>
            </a:r>
            <a:r>
              <a:rPr lang="ru-RU" dirty="0"/>
              <a:t>)</a:t>
            </a:r>
          </a:p>
          <a:p>
            <a:pPr algn="just"/>
            <a:r>
              <a:rPr lang="ru-RU" dirty="0"/>
              <a:t>Автоматически освобождает память при выходе</a:t>
            </a:r>
            <a:r>
              <a:rPr lang="en-US" dirty="0"/>
              <a:t> </a:t>
            </a:r>
            <a:r>
              <a:rPr lang="ru-RU" dirty="0"/>
              <a:t>из области видимости (даже при пойманных исключениях</a:t>
            </a:r>
            <a:r>
              <a:rPr lang="en-US" dirty="0"/>
              <a:t>!</a:t>
            </a:r>
            <a:r>
              <a:rPr lang="ru-RU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626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B72924-1B99-484C-A262-22C26F1E7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941"/>
          </a:xfrm>
        </p:spPr>
        <p:txBody>
          <a:bodyPr>
            <a:noAutofit/>
          </a:bodyPr>
          <a:lstStyle/>
          <a:p>
            <a:r>
              <a:rPr lang="ru-RU" dirty="0"/>
              <a:t>Пример создания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B2959B-F93F-4F52-AE9E-ADBE28603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</a:rPr>
              <a:t>Создание объекта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unique_ptr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p1 = std::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make_unique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&gt;();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sz="2400" dirty="0">
                <a:highlight>
                  <a:srgbClr val="FFFFFF"/>
                </a:highlight>
              </a:rPr>
              <a:t>Данный код не скомпилируется!</a:t>
            </a:r>
          </a:p>
          <a:p>
            <a:pPr marL="0" indent="0">
              <a:buNone/>
            </a:pP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unique_ptr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p2 = p1;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</a:rPr>
              <a:t>Передача владения объекта посредством инструмента перемещения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unique_ptr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p2 = std::move(p1);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nullptr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p1) std::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"p1 is null after move\n"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2000" i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вывод произойдёт</a:t>
            </a:r>
          </a:p>
        </p:txBody>
      </p:sp>
    </p:spTree>
    <p:extLst>
      <p:ext uri="{BB962C8B-B14F-4D97-AF65-F5344CB8AC3E}">
        <p14:creationId xmlns:p14="http://schemas.microsoft.com/office/powerpoint/2010/main" val="340828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81B88D-0D93-4528-B9B9-45020EA4F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4442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61BA9C-5793-4FF5-81E0-C6F4999C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/>
              <a:t>Передача указателя в функцию</a:t>
            </a:r>
          </a:p>
          <a:p>
            <a:pPr algn="just"/>
            <a:r>
              <a:rPr lang="ru-RU" dirty="0"/>
              <a:t>Если нам нужно «передать владение объектом функции», типом аргументом функции станет </a:t>
            </a: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</a:p>
          <a:p>
            <a:pPr algn="just"/>
            <a:r>
              <a:rPr lang="ru-RU" dirty="0"/>
              <a:t>Для избегания передачи владения объектом:</a:t>
            </a:r>
          </a:p>
          <a:p>
            <a:pPr lvl="1" algn="just">
              <a:buFont typeface="Wingdings" panose="05000000000000000000" pitchFamily="2" charset="2"/>
              <a:buChar char="ü"/>
            </a:pPr>
            <a:r>
              <a:rPr lang="ru-RU" dirty="0"/>
              <a:t> В качестве аргумента передаём «сырой» указатель с помощью метода </a:t>
            </a:r>
            <a:r>
              <a:rPr lang="en-US" dirty="0" err="1">
                <a:latin typeface="Consolas" panose="020B0609020204030204" pitchFamily="49" charset="0"/>
              </a:rPr>
              <a:t>u_ptr.get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. </a:t>
            </a:r>
            <a:r>
              <a:rPr lang="ru-RU" dirty="0"/>
              <a:t>Следовательно, типом аргумента функции станет </a:t>
            </a:r>
            <a:r>
              <a:rPr lang="en-US" dirty="0">
                <a:latin typeface="Consolas" panose="020B0609020204030204" pitchFamily="49" charset="0"/>
              </a:rPr>
              <a:t>T*</a:t>
            </a:r>
          </a:p>
          <a:p>
            <a:pPr lvl="1" algn="just">
              <a:buFont typeface="Wingdings" panose="05000000000000000000" pitchFamily="2" charset="2"/>
              <a:buChar char="ü"/>
            </a:pPr>
            <a:r>
              <a:rPr lang="en-US" dirty="0"/>
              <a:t> </a:t>
            </a:r>
            <a:r>
              <a:rPr lang="ru-RU" dirty="0"/>
              <a:t>В качестве аргумента можно передать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 err="1">
                <a:latin typeface="Consolas" panose="020B0609020204030204" pitchFamily="49" charset="0"/>
              </a:rPr>
              <a:t>u_ptr</a:t>
            </a:r>
            <a:r>
              <a:rPr lang="en-US" dirty="0"/>
              <a:t>. </a:t>
            </a:r>
            <a:r>
              <a:rPr lang="ru-RU" dirty="0"/>
              <a:t>Тогда типом аргумента функции станет </a:t>
            </a:r>
            <a:r>
              <a:rPr lang="en-US" dirty="0">
                <a:latin typeface="Consolas" panose="020B0609020204030204" pitchFamily="49" charset="0"/>
              </a:rPr>
              <a:t>T&amp;</a:t>
            </a:r>
            <a:endParaRPr lang="ru-RU" dirty="0"/>
          </a:p>
          <a:p>
            <a:pPr algn="just"/>
            <a:r>
              <a:rPr lang="en-US" dirty="0"/>
              <a:t>.reset()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удалить объект и указатель примет значение </a:t>
            </a:r>
            <a:r>
              <a:rPr lang="en-US" dirty="0" err="1"/>
              <a:t>nullptr</a:t>
            </a:r>
            <a:endParaRPr lang="ru-RU" dirty="0"/>
          </a:p>
          <a:p>
            <a:pPr algn="just"/>
            <a:r>
              <a:rPr lang="en-US" dirty="0"/>
              <a:t>.release(): </a:t>
            </a:r>
            <a:r>
              <a:rPr lang="ru-RU" dirty="0"/>
              <a:t>передать сырой указатель (следствие: опасный метод!)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983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D88E16-0430-4141-81FA-5801AD2D6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9609"/>
          </a:xfrm>
        </p:spPr>
        <p:txBody>
          <a:bodyPr>
            <a:normAutofit fontScale="90000"/>
          </a:bodyPr>
          <a:lstStyle/>
          <a:p>
            <a:r>
              <a:rPr lang="ru-RU" dirty="0"/>
              <a:t>Создание массива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E8C139-6D80-4A75-A711-1A901F92A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294"/>
            <a:ext cx="10515600" cy="4876669"/>
          </a:xfrm>
        </p:spPr>
        <p:txBody>
          <a:bodyPr/>
          <a:lstStyle/>
          <a:p>
            <a:r>
              <a:rPr lang="ru-RU" dirty="0"/>
              <a:t>Пример создания</a:t>
            </a:r>
            <a:r>
              <a:rPr lang="en-US" dirty="0"/>
              <a:t> </a:t>
            </a:r>
            <a:r>
              <a:rPr lang="ru-RU" dirty="0"/>
              <a:t>одномерного массива</a:t>
            </a:r>
          </a:p>
          <a:p>
            <a:pPr marL="0" indent="0">
              <a:buNone/>
            </a:pP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std::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unique_ptr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p_arr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</a:t>
            </a:r>
            <a:b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std::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make_unique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i="1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[]&gt;(N);</a:t>
            </a:r>
            <a:endParaRPr lang="ru-RU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</a:rPr>
              <a:t>	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</a:rPr>
              <a:t>N –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</a:rPr>
              <a:t>размер массива</a:t>
            </a:r>
          </a:p>
          <a:p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</a:rPr>
              <a:t>Взятие элемента по индексу:</a:t>
            </a:r>
          </a:p>
          <a:p>
            <a:pPr marL="0" indent="0">
              <a:buNone/>
            </a:pP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p_arr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[index];</a:t>
            </a:r>
          </a:p>
          <a:p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</a:rPr>
              <a:t>Создание двумерного массива</a:t>
            </a:r>
          </a:p>
          <a:p>
            <a:pPr marL="0" indent="0">
              <a:buNone/>
            </a:pPr>
            <a:r>
              <a:rPr lang="ru-RU" sz="2000" i="1" dirty="0">
                <a:solidFill>
                  <a:srgbClr val="000000"/>
                </a:solidFill>
                <a:highlight>
                  <a:srgbClr val="FFFFFF"/>
                </a:highlight>
              </a:rPr>
              <a:t>	поразмышляем…</a:t>
            </a:r>
          </a:p>
        </p:txBody>
      </p:sp>
    </p:spTree>
    <p:extLst>
      <p:ext uri="{BB962C8B-B14F-4D97-AF65-F5344CB8AC3E}">
        <p14:creationId xmlns:p14="http://schemas.microsoft.com/office/powerpoint/2010/main" val="42725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02491E-B520-4917-A339-DE935E9B7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220"/>
          </a:xfrm>
        </p:spPr>
        <p:txBody>
          <a:bodyPr>
            <a:noAutofit/>
          </a:bodyPr>
          <a:lstStyle/>
          <a:p>
            <a:r>
              <a:rPr lang="ru-RU" dirty="0"/>
              <a:t>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CF4F82-355F-4059-99BC-57352F9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1570"/>
            <a:ext cx="10515600" cy="542767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Реализуйте создание одномерного массива объектов класса </a:t>
            </a:r>
            <a:r>
              <a:rPr lang="en-US" dirty="0"/>
              <a:t>Box</a:t>
            </a:r>
            <a:r>
              <a:rPr lang="ru-RU" dirty="0"/>
              <a:t> с помощью </a:t>
            </a:r>
            <a:r>
              <a:rPr lang="en-US" dirty="0"/>
              <a:t>smart-</a:t>
            </a:r>
            <a:r>
              <a:rPr lang="ru-RU" dirty="0"/>
              <a:t>указателя. Размер массива: 5 объектов</a:t>
            </a:r>
          </a:p>
          <a:p>
            <a:pPr algn="just"/>
            <a:r>
              <a:rPr lang="ru-RU" dirty="0"/>
              <a:t>Инициализируйте массив в цикле значениями, которые будет вводить пользователь (выведите сообщение приглашения ввода). Числа должны быть различными!</a:t>
            </a:r>
          </a:p>
          <a:p>
            <a:pPr algn="just"/>
            <a:r>
              <a:rPr lang="ru-RU" dirty="0"/>
              <a:t>Напишите лямбда функцию</a:t>
            </a:r>
          </a:p>
          <a:p>
            <a:pPr lvl="1" algn="just"/>
            <a:r>
              <a:rPr lang="ru-RU" dirty="0"/>
              <a:t>Принимающую число (по значению)</a:t>
            </a:r>
          </a:p>
          <a:p>
            <a:pPr lvl="1" algn="just"/>
            <a:r>
              <a:rPr lang="ru-RU" dirty="0"/>
              <a:t>Возводящую переданное число в квадрат</a:t>
            </a:r>
          </a:p>
          <a:p>
            <a:pPr algn="just"/>
            <a:r>
              <a:rPr lang="ru-RU" dirty="0"/>
              <a:t>Напишите новую лямбда функцию (без передачи владения)</a:t>
            </a:r>
          </a:p>
          <a:p>
            <a:pPr lvl="1" algn="just"/>
            <a:r>
              <a:rPr lang="ru-RU" dirty="0"/>
              <a:t>Принимающую массив + его размер + лямбда функцию</a:t>
            </a:r>
          </a:p>
          <a:p>
            <a:pPr lvl="1" algn="just"/>
            <a:r>
              <a:rPr lang="ru-RU" dirty="0"/>
              <a:t>Применяющую в цикле лямбда-функцию возведения в квадрат к каждому элементу массива</a:t>
            </a:r>
          </a:p>
          <a:p>
            <a:pPr algn="just"/>
            <a:r>
              <a:rPr lang="ru-RU" dirty="0"/>
              <a:t>Напишите лямбда-функцию (с передачей владения)</a:t>
            </a:r>
          </a:p>
          <a:p>
            <a:pPr lvl="1" algn="just"/>
            <a:r>
              <a:rPr lang="ru-RU" dirty="0"/>
              <a:t>Принимающую массив + размер</a:t>
            </a:r>
          </a:p>
          <a:p>
            <a:pPr lvl="1" algn="just"/>
            <a:r>
              <a:rPr lang="ru-RU" dirty="0"/>
              <a:t>Выводящую содержимое массива на экран</a:t>
            </a:r>
          </a:p>
          <a:p>
            <a:pPr algn="just"/>
            <a:r>
              <a:rPr lang="ru-RU" dirty="0"/>
              <a:t>Вызовите написанные лямбда-функции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894167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164B99-CEED-4195-AA38-2818C3DE6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316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FA0E51-8BB3-468D-98F1-F15BD8655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236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dirty="0"/>
              <a:t>«Совмещённый» указатель</a:t>
            </a:r>
          </a:p>
          <a:p>
            <a:pPr algn="just"/>
            <a:r>
              <a:rPr lang="ru-RU" dirty="0"/>
              <a:t>Идея: совместное владение объектом</a:t>
            </a:r>
          </a:p>
          <a:p>
            <a:pPr algn="just"/>
            <a:r>
              <a:rPr lang="ru-RU" dirty="0"/>
              <a:t>Следствие из идеи: существует счётчик указателей на объект. Информация о количестве владельцев: </a:t>
            </a:r>
            <a:r>
              <a:rPr lang="en-US" dirty="0" err="1">
                <a:latin typeface="Consolas" panose="020B0609020204030204" pitchFamily="49" charset="0"/>
              </a:rPr>
              <a:t>ptr.use_count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ru-RU" dirty="0"/>
              <a:t>. Расходуется дополнительная память</a:t>
            </a:r>
            <a:endParaRPr lang="ru-RU" dirty="0">
              <a:latin typeface="Consolas" panose="020B0609020204030204" pitchFamily="49" charset="0"/>
            </a:endParaRPr>
          </a:p>
          <a:p>
            <a:pPr algn="just"/>
            <a:r>
              <a:rPr lang="ru-RU" dirty="0"/>
              <a:t>Копирование работает</a:t>
            </a:r>
            <a:r>
              <a:rPr lang="en-US" dirty="0"/>
              <a:t>!</a:t>
            </a:r>
            <a:endParaRPr lang="ru-RU" dirty="0"/>
          </a:p>
          <a:p>
            <a:pPr algn="just"/>
            <a:r>
              <a:rPr lang="ru-RU" dirty="0"/>
              <a:t>Автоматически освобождает память при выходе</a:t>
            </a:r>
            <a:r>
              <a:rPr lang="en-US" dirty="0"/>
              <a:t> </a:t>
            </a:r>
            <a:r>
              <a:rPr lang="ru-RU" dirty="0"/>
              <a:t>из области видимости (даже при пойманных исключениях</a:t>
            </a:r>
            <a:r>
              <a:rPr lang="en-US" dirty="0"/>
              <a:t>!</a:t>
            </a:r>
            <a:r>
              <a:rPr lang="ru-RU" dirty="0"/>
              <a:t>)</a:t>
            </a:r>
            <a:endParaRPr lang="en-US" dirty="0"/>
          </a:p>
          <a:p>
            <a:pPr algn="just"/>
            <a:r>
              <a:rPr lang="en-US" dirty="0"/>
              <a:t>.reset() </a:t>
            </a:r>
            <a:r>
              <a:rPr lang="ru-RU" dirty="0"/>
              <a:t>уменьшает счётчик и освобождает указатель</a:t>
            </a:r>
          </a:p>
          <a:p>
            <a:pPr algn="just"/>
            <a:r>
              <a:rPr lang="ru-RU" dirty="0"/>
              <a:t>Проблема: циклические ссылки</a:t>
            </a:r>
            <a:r>
              <a:rPr lang="en-US" dirty="0"/>
              <a:t>…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693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84CCF7-C0D6-41D5-82CB-38920D61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циклических ссылок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381364-7D76-49B2-B0E6-DF86A12FF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0569"/>
            <a:ext cx="10515600" cy="54023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&lt;iostream&gt;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&lt;memory&gt;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shared_ptr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b;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~A() { std::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"~A\n"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}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shared_ptr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a;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~B() { std::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"~B\n"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}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main()</a:t>
            </a: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a = std::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make_shared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&gt;();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b = std::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make_shared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&gt;();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-&gt;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 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b;</a:t>
            </a: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-&gt;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 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a;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"end scope\n"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// </a:t>
            </a: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деструкторы не будут вызваны!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Решение: сделать в структуре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‘B’ std::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weak_ptr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a;</a:t>
            </a:r>
            <a:br>
              <a:rPr lang="ru-RU" sz="1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834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18807-1F12-4F54-A784-A8A191AB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3165"/>
          </a:xfrm>
        </p:spPr>
        <p:txBody>
          <a:bodyPr>
            <a:normAutofit fontScale="90000"/>
          </a:bodyPr>
          <a:lstStyle/>
          <a:p>
            <a:r>
              <a:rPr lang="ru-RU" dirty="0"/>
              <a:t>Решение: </a:t>
            </a: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weak_ptr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8070E7-18CC-4283-946F-3F1751E24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516"/>
            <a:ext cx="10515600" cy="489344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&lt;iostream&gt;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&lt;memory&gt;</a:t>
            </a:r>
            <a:endParaRPr lang="en-US" sz="28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8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shared_ptr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b;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~A() { std::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"~A\n"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}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800" b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weak_ptr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 a;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~B() { std::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"~B\n"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}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main()</a:t>
            </a: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auto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a = std::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make_shared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&gt;();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auto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b = std::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make_shared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800" dirty="0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&gt;();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-&gt;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 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b;</a:t>
            </a: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-&gt;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 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a;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&lt;&lt;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"end scope\n"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// </a:t>
            </a: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деструкторы не будут вызваны!</a:t>
            </a:r>
            <a:b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ru-RU" sz="28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sz="4400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663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62770F-4A8F-4809-B229-265063E8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9609"/>
          </a:xfrm>
        </p:spPr>
        <p:txBody>
          <a:bodyPr>
            <a:normAutofit fontScale="90000"/>
          </a:bodyPr>
          <a:lstStyle/>
          <a:p>
            <a:r>
              <a:rPr lang="ru-RU" dirty="0"/>
              <a:t>Создание и применение </a:t>
            </a: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weak_ptr</a:t>
            </a:r>
            <a:r>
              <a:rPr lang="en-US" dirty="0">
                <a:latin typeface="Consolas" panose="020B0609020204030204" pitchFamily="49" charset="0"/>
              </a:rPr>
              <a:t>&lt;&gt;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0ACBFE-4DFE-4B9F-87A4-A787989D9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1571"/>
            <a:ext cx="10515600" cy="4935392"/>
          </a:xfrm>
        </p:spPr>
        <p:txBody>
          <a:bodyPr/>
          <a:lstStyle/>
          <a:p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std::</a:t>
            </a:r>
            <a:r>
              <a:rPr lang="en-US" sz="2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weak_ptr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typename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w_ptr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r>
              <a:rPr lang="ru-RU" dirty="0"/>
              <a:t>Инициализация:</a:t>
            </a:r>
            <a:r>
              <a:rPr lang="en-US" dirty="0"/>
              <a:t> </a:t>
            </a:r>
            <a:r>
              <a:rPr lang="pl-PL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w_ptr = sh_ptr.lock();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lvl="1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</a:rPr>
              <a:t>Где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sh_ptr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– std::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shared_ptr</a:t>
            </a:r>
            <a:endParaRPr lang="ru-RU" dirty="0"/>
          </a:p>
          <a:p>
            <a:r>
              <a:rPr lang="pl-PL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.lock()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– 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</a:rPr>
              <a:t>безопасная попытка получить объект (есть вероятность, что объект является уничтоженным)</a:t>
            </a:r>
          </a:p>
          <a:p>
            <a:r>
              <a:rPr lang="pl-PL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expired</a:t>
            </a:r>
            <a:r>
              <a:rPr lang="pl-PL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– 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</a:rPr>
              <a:t>предикат, проверяющий, уничтожен ли объект</a:t>
            </a:r>
            <a:endParaRPr lang="en-US" dirty="0"/>
          </a:p>
          <a:p>
            <a:r>
              <a:rPr lang="ru-RU" dirty="0"/>
              <a:t>Необходимо НЕ продлевать жизнь объекту при обращении</a:t>
            </a:r>
          </a:p>
        </p:txBody>
      </p:sp>
    </p:spTree>
    <p:extLst>
      <p:ext uri="{BB962C8B-B14F-4D97-AF65-F5344CB8AC3E}">
        <p14:creationId xmlns:p14="http://schemas.microsoft.com/office/powerpoint/2010/main" val="2973553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881</Words>
  <Application>Microsoft Office PowerPoint</Application>
  <PresentationFormat>Широкоэкранный</PresentationFormat>
  <Paragraphs>77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Cascadia Mono</vt:lpstr>
      <vt:lpstr>Consolas</vt:lpstr>
      <vt:lpstr>Wingdings</vt:lpstr>
      <vt:lpstr>Тема Office</vt:lpstr>
      <vt:lpstr>Умные указатели</vt:lpstr>
      <vt:lpstr>std::unique_ptr&lt;&gt;</vt:lpstr>
      <vt:lpstr>Пример создания</vt:lpstr>
      <vt:lpstr>std::unique_ptr&lt;&gt;</vt:lpstr>
      <vt:lpstr>Создание массива</vt:lpstr>
      <vt:lpstr>Задание</vt:lpstr>
      <vt:lpstr>std::shared_ptr&lt;&gt;</vt:lpstr>
      <vt:lpstr>Пример циклических ссылок</vt:lpstr>
      <vt:lpstr>Решение: std::weak_ptr&lt;&gt;</vt:lpstr>
      <vt:lpstr>Создание и применение std::weak_ptr&lt;&gt;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Умные указатели</dc:title>
  <dc:creator>varitch.rodion.2@gmail.com</dc:creator>
  <cp:lastModifiedBy>varitch.rodion.2@gmail.com</cp:lastModifiedBy>
  <cp:revision>33</cp:revision>
  <dcterms:created xsi:type="dcterms:W3CDTF">2025-11-06T10:00:21Z</dcterms:created>
  <dcterms:modified xsi:type="dcterms:W3CDTF">2025-11-06T15:57:59Z</dcterms:modified>
</cp:coreProperties>
</file>