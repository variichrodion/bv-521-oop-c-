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FD6F7-071B-4C51-9785-2A650030F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F1BF15-A7CF-404A-864F-FDE0C6369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D0BCB-D510-42D0-B1EF-7CCB854C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7182B3-1DF3-44A0-9020-F9CD02BD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B35C8E-FC4F-42BF-BC59-CE3DEF8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2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A35E8-7DFD-49E1-8A0C-3336EA1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E211D0-0ED3-4AF4-ACF4-C8B72F161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EDEDBF-2977-4D07-8128-366CD771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E8A579-17A9-483F-982C-AE331461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765E8C-C717-47CA-8EE0-D9E1CD70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77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A2E48F-83AD-44B1-8F83-A4786E0A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83876E-D060-408E-BC7E-AF2F985D0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65F77-6EF7-46E8-95A6-3AFAB1B3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B236F7-806E-4445-AB43-9D3726B3D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64BC56-25D9-4D1A-BEE5-FA3CB6A1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55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B8612-E7FE-4EBB-9E57-7A7AD3C9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FF1D71-FAF9-4820-B688-C6E0C3C77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3F2326-87BF-4DD6-BDFC-70D05CBAB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C6748-EB52-4186-BAA5-C17B6E06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2E7D4D-DC0F-4579-A615-3CEA6F4C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0876F3-E9E2-45C9-918D-5064E501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90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BD5A4-8F17-4C56-A530-FEBF8E75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6CD9D5-0660-425E-9D97-A0226DC03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36B084-A2B6-49A8-B4D3-E827B2104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316ECA-CB9E-4247-8EED-B239D0844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9A3188-AB2B-4E41-8104-FF28E336E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013D87D-D131-44CA-9785-B323AB7F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AE8E77-A241-49F4-BBE9-9E1F23A4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F07D9A-A0AD-4983-9F35-EDBFA3A5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45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3F62B-6ED8-4E7F-BCBF-77E3F431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9C58D32-FCAE-4642-AEC0-B55CA67A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5CD65C-F91A-4F6D-BCF8-9320FEE6B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5476BD-C6B8-4983-8E03-18CAB4A8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96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40CD80-4A10-4F2C-B3F8-448E6345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243DEF-9EA7-4FB0-8750-EEC08241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745B40-F4EA-4749-BAE3-6E880575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75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F2594C-186C-4363-B711-61FF1EDD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CAEE92-707C-44C4-AA9E-9D9E564F6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13CCB0-FA1F-41B1-BC9D-12168E7AC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781367-BE81-408C-9527-F1D2CD0B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23829F-740C-4C6F-B102-640B16D2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C27659-CAFA-49DE-A54A-1BA10B88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5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A4550-00AE-4A98-90AB-6F6072E2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BA0F12-2273-4DBA-A5FB-64E8EE22E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65A8FA-8BAA-4803-839D-667703861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249C00-1539-4AFC-93E5-F72E5D56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CC6CCF-5A10-4185-A662-06D1D933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112B7D-61D7-40D2-8B3B-25F3B88D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01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8A30A-6D35-4522-86C6-0E15C52C0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BD3028-7F3B-4807-BC65-C38BE1047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4C0580-AB78-4EB9-A893-013ED795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6214A-B04C-4459-B62C-1AE755AC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1B6250-F9A4-4B65-977F-9C0AC88D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0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EFC3C9-E454-4677-AB82-9C34CAD38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BB57CC-ED1E-4A14-9863-7F0ECE6C5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4F94B8-544C-4B64-BDDD-2FDF1D58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1AA6C0-B150-4D9C-9D06-59A7FDFE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95A215-2913-47FF-8FB7-ACD09340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422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52FD6-10C9-48EA-ACF1-CA22564EB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B07D95-75C3-441B-B140-CFC84312D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4CDC15-85AD-4FC9-9F9E-DF3C88883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52B0-6D8A-4FEA-9F9F-3E555306B444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0A21F8-8BB5-4861-8418-63130A4E7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DE76D9-D46C-4E1F-9E43-1969F302B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6FC8E-85C4-4812-81BD-783D248ED5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66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BDF8E-0FEB-482A-A8D9-1CA70C889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pPr algn="r"/>
            <a:r>
              <a:rPr lang="ru-RU" dirty="0"/>
              <a:t>Практика. ООП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94DB56-9EEA-4751-91CA-AFCE6FC3BC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ru-RU" sz="3600" dirty="0"/>
              <a:t>Ключевое слово </a:t>
            </a:r>
            <a:r>
              <a:rPr lang="en-US" sz="3600" dirty="0"/>
              <a:t>Explicit</a:t>
            </a:r>
            <a:endParaRPr lang="ru-RU" sz="3600" dirty="0"/>
          </a:p>
          <a:p>
            <a:pPr algn="r"/>
            <a:r>
              <a:rPr lang="ru-RU" sz="3600" dirty="0"/>
              <a:t>Библиотека </a:t>
            </a:r>
            <a:r>
              <a:rPr lang="en-US" sz="3600" dirty="0"/>
              <a:t>&lt;filesystem&gt;</a:t>
            </a:r>
            <a:endParaRPr lang="ru-RU" sz="3600" dirty="0"/>
          </a:p>
          <a:p>
            <a:pPr algn="r"/>
            <a:r>
              <a:rPr lang="ru-RU" dirty="0"/>
              <a:t>27.11.2025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6274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DE58C-68E4-47A0-8766-75D77AD2E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3393"/>
          </a:xfrm>
        </p:spPr>
        <p:txBody>
          <a:bodyPr/>
          <a:lstStyle/>
          <a:p>
            <a:r>
              <a:rPr lang="ru-RU" dirty="0"/>
              <a:t>Ключевое слово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explicit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B7912F-DEC8-4FB6-A39D-69EC8005C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138518"/>
            <a:ext cx="11923058" cy="5354357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explicit </a:t>
            </a:r>
            <a:r>
              <a:rPr lang="en-US" dirty="0"/>
              <a:t>– </a:t>
            </a:r>
            <a:r>
              <a:rPr lang="ru-RU" dirty="0"/>
              <a:t>запрет неявного преобразования</a:t>
            </a:r>
          </a:p>
          <a:p>
            <a:pPr marL="0" indent="0">
              <a:buNone/>
            </a:pPr>
            <a:r>
              <a:rPr lang="ru-RU" dirty="0"/>
              <a:t>Примеры: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fr-F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= 10;   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fr-FR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10 → 10.0</a:t>
            </a:r>
            <a:endParaRPr lang="ru-RU" sz="20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sz="20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 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‘A’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= c;  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x = 65</a:t>
            </a:r>
            <a:endParaRPr lang="ru-RU" sz="20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sz="20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истинно, потому что указатель не NULL 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514350" indent="-514350">
              <a:buFont typeface="+mj-lt"/>
              <a:buAutoNum type="arabicPeriod"/>
            </a:pP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a[10];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p = a;   	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неявно: массив → указатель на первый элемент</a:t>
            </a:r>
          </a:p>
          <a:p>
            <a:pPr marL="514350" indent="-514350">
              <a:buFont typeface="+mj-lt"/>
              <a:buAutoNum type="arabicPeriod"/>
            </a:pPr>
            <a:endParaRPr lang="ru-RU" sz="20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print(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std::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&amp;);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457200" lvl="1" indent="0">
              <a:buNone/>
            </a:pP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→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(временный объект)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9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8F462-1E26-427E-9825-F9062845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645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r>
              <a:rPr lang="en-US" dirty="0"/>
              <a:t> + </a:t>
            </a:r>
            <a:r>
              <a:rPr lang="ru-RU" dirty="0"/>
              <a:t>устное задание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315183-0924-400B-9089-9A5B1C593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5482" y="859862"/>
            <a:ext cx="7368989" cy="58995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size = 10;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array;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::Array(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::size =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array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getSize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size;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array[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setValue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array[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array[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~Array()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delete[]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array;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</a:t>
            </a:r>
            <a:r>
              <a:rPr lang="nn-NO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.getSize(); i++)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.display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b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b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b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endParaRPr lang="ru-RU" sz="14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B0A0A9-FD2A-4384-A775-31A5DE9A4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71766" y="1253331"/>
            <a:ext cx="5190564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</a:t>
            </a:r>
          </a:p>
          <a:p>
            <a:pPr marL="0" indent="0">
              <a:buNone/>
            </a:pPr>
            <a:endParaRPr lang="en-US" sz="56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en-US" sz="56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6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</a:t>
            </a:r>
            <a:r>
              <a:rPr lang="ru-RU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"Dynamic integer array"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6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size = 4;</a:t>
            </a:r>
          </a:p>
          <a:p>
            <a:pPr marL="0" indent="0">
              <a:buNone/>
            </a:pPr>
            <a:r>
              <a:rPr lang="en-US" sz="6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array(size);</a:t>
            </a:r>
          </a:p>
          <a:p>
            <a:pPr marL="0" indent="0">
              <a:buNone/>
            </a:pPr>
            <a:r>
              <a:rPr lang="nn-NO" sz="6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6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size; i++) </a:t>
            </a:r>
            <a:r>
              <a:rPr lang="ru-RU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array.setValue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size - </a:t>
            </a: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ru-RU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display(array); </a:t>
            </a: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"!!!"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display(3);</a:t>
            </a:r>
          </a:p>
          <a:p>
            <a:pPr marL="0" indent="0">
              <a:buNone/>
            </a:pP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</a:t>
            </a:r>
            <a:r>
              <a:rPr lang="en-US" sz="6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getch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6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6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6400" dirty="0"/>
          </a:p>
        </p:txBody>
      </p:sp>
    </p:spTree>
    <p:extLst>
      <p:ext uri="{BB962C8B-B14F-4D97-AF65-F5344CB8AC3E}">
        <p14:creationId xmlns:p14="http://schemas.microsoft.com/office/powerpoint/2010/main" val="147689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B8DF3-7B5E-4AA7-B38B-B732D04F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099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276E690-B9D3-421C-9736-2B9D3F419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678" y="2511308"/>
            <a:ext cx="6448643" cy="1835383"/>
          </a:xfrm>
        </p:spPr>
      </p:pic>
      <p:pic>
        <p:nvPicPr>
          <p:cNvPr id="1026" name="Picture 2" descr="Термонаклейка на любой вид текстиля (DTF) смайл, смайлик, эмоция, эмодзи.  купить на OZON по низкой цене в Армении, Ереване (1742202397)">
            <a:extLst>
              <a:ext uri="{FF2B5EF4-FFF2-40B4-BE49-F238E27FC236}">
                <a16:creationId xmlns:a16="http://schemas.microsoft.com/office/drawing/2014/main" id="{0C1BCAED-70C6-4AD4-BE73-8609863D8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788" y="4507073"/>
            <a:ext cx="2156012" cy="19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42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4927B-AD57-4D93-B0AD-FF84256F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356"/>
          </a:xfrm>
        </p:spPr>
        <p:txBody>
          <a:bodyPr/>
          <a:lstStyle/>
          <a:p>
            <a:r>
              <a:rPr lang="ru-RU" dirty="0"/>
              <a:t>Разбор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BA3750-12C0-4F0B-A8EC-C73E4CB9B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5008"/>
            <a:ext cx="10515600" cy="4132730"/>
          </a:xfrm>
        </p:spPr>
        <p:txBody>
          <a:bodyPr/>
          <a:lstStyle/>
          <a:p>
            <a:pPr algn="just"/>
            <a:r>
              <a:rPr lang="ru-RU" dirty="0"/>
              <a:t>В классе есть метод </a:t>
            </a:r>
            <a:r>
              <a:rPr lang="en-US" dirty="0"/>
              <a:t>display</a:t>
            </a:r>
          </a:p>
          <a:p>
            <a:pPr algn="just"/>
            <a:r>
              <a:rPr lang="ru-RU" dirty="0"/>
              <a:t>В программе объявлена глобальная функция </a:t>
            </a:r>
            <a:r>
              <a:rPr lang="en-US" dirty="0"/>
              <a:t>display</a:t>
            </a:r>
          </a:p>
          <a:p>
            <a:pPr algn="just"/>
            <a:r>
              <a:rPr lang="ru-RU" dirty="0"/>
              <a:t>Программист хотел вызвать метод класса, но случайно вызвал глобальную функцию</a:t>
            </a:r>
          </a:p>
          <a:p>
            <a:pPr algn="just"/>
            <a:r>
              <a:rPr lang="ru-RU" dirty="0"/>
              <a:t>При передачи числа «3» в </a:t>
            </a:r>
            <a:r>
              <a:rPr lang="en-US" dirty="0"/>
              <a:t>display() </a:t>
            </a:r>
            <a:r>
              <a:rPr lang="ru-RU" dirty="0"/>
              <a:t>тип «</a:t>
            </a:r>
            <a:r>
              <a:rPr lang="en-US" dirty="0"/>
              <a:t>int</a:t>
            </a:r>
            <a:r>
              <a:rPr lang="ru-RU" dirty="0"/>
              <a:t>» </a:t>
            </a:r>
            <a:r>
              <a:rPr lang="ru-RU" dirty="0" err="1"/>
              <a:t>НЕявно</a:t>
            </a:r>
            <a:r>
              <a:rPr lang="ru-RU" dirty="0"/>
              <a:t> преобразуется в объект класса </a:t>
            </a:r>
            <a:r>
              <a:rPr lang="en-US" dirty="0"/>
              <a:t>Array </a:t>
            </a:r>
            <a:r>
              <a:rPr lang="ru-RU" dirty="0"/>
              <a:t>за счёт соответствующего конструктора</a:t>
            </a:r>
          </a:p>
          <a:p>
            <a:pPr algn="just"/>
            <a:r>
              <a:rPr lang="ru-RU" dirty="0"/>
              <a:t>Код «</a:t>
            </a:r>
            <a:r>
              <a:rPr lang="ru-RU" dirty="0" err="1"/>
              <a:t>скомпелировался</a:t>
            </a:r>
            <a:r>
              <a:rPr lang="ru-RU" dirty="0"/>
              <a:t>», ошибку обнаружить проблематично…</a:t>
            </a:r>
          </a:p>
        </p:txBody>
      </p:sp>
    </p:spTree>
    <p:extLst>
      <p:ext uri="{BB962C8B-B14F-4D97-AF65-F5344CB8AC3E}">
        <p14:creationId xmlns:p14="http://schemas.microsoft.com/office/powerpoint/2010/main" val="19399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CA40C-068D-4206-B6C1-A3169B17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816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0790DA-FFDA-4253-8500-2E9C6FB95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248"/>
            <a:ext cx="10515600" cy="3221504"/>
          </a:xfrm>
        </p:spPr>
        <p:txBody>
          <a:bodyPr/>
          <a:lstStyle/>
          <a:p>
            <a:r>
              <a:rPr lang="ru-RU" dirty="0"/>
              <a:t>Добавить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explicit </a:t>
            </a:r>
            <a:r>
              <a:rPr lang="ru-RU" dirty="0"/>
              <a:t>перед объявлением конструктора</a:t>
            </a:r>
          </a:p>
          <a:p>
            <a:r>
              <a:rPr lang="ru-RU" dirty="0"/>
              <a:t>ВАЖНО: Если в классе есть конструктор с одним аргументом, то есть смысл ВСЕГДА прописывать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explicit</a:t>
            </a:r>
            <a:endParaRPr lang="ru-RU" dirty="0"/>
          </a:p>
          <a:p>
            <a:r>
              <a:rPr lang="ru-RU" dirty="0"/>
              <a:t>Таким образом, ключевое слово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explicit </a:t>
            </a:r>
            <a:r>
              <a:rPr lang="ru-RU" dirty="0"/>
              <a:t>пишут либо у:</a:t>
            </a:r>
          </a:p>
          <a:p>
            <a:pPr lvl="1"/>
            <a:r>
              <a:rPr lang="ru-RU" dirty="0"/>
              <a:t>Конструктора (с одним аргументом – обязательно)</a:t>
            </a:r>
          </a:p>
          <a:p>
            <a:pPr lvl="1"/>
            <a:r>
              <a:rPr lang="ru-RU" dirty="0"/>
              <a:t>Перегрузки приведения типа: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explicit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запрещает неявное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class_A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→ int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542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76057-0D49-47B6-A447-4CC3FC03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ru-RU" dirty="0"/>
              <a:t>Библиотека </a:t>
            </a:r>
            <a:r>
              <a:rPr lang="en-US" i="1" dirty="0"/>
              <a:t>Filesystem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FA7F2A-2C61-4140-BF48-C04F74BC9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764" y="1129552"/>
            <a:ext cx="11797553" cy="5271247"/>
          </a:xfrm>
        </p:spPr>
        <p:txBody>
          <a:bodyPr/>
          <a:lstStyle/>
          <a:p>
            <a:pPr algn="just"/>
            <a:r>
              <a:rPr lang="ru-RU" dirty="0"/>
              <a:t>Ранее в </a:t>
            </a:r>
            <a:r>
              <a:rPr lang="en-US" dirty="0"/>
              <a:t>C++</a:t>
            </a:r>
            <a:r>
              <a:rPr lang="ru-RU" dirty="0"/>
              <a:t> пользовались библиотеками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direct.h</a:t>
            </a:r>
            <a:r>
              <a:rPr lang="en-US" dirty="0"/>
              <a:t> </a:t>
            </a:r>
            <a:r>
              <a:rPr lang="ru-RU" dirty="0"/>
              <a:t>для работы с файлами и директориями соответственно</a:t>
            </a:r>
          </a:p>
          <a:p>
            <a:pPr algn="just"/>
            <a:r>
              <a:rPr lang="ru-RU" dirty="0"/>
              <a:t>Более современным инструментом считается библиотека</a:t>
            </a:r>
            <a:r>
              <a:rPr lang="en-US" dirty="0"/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</a:t>
            </a:r>
            <a:endParaRPr lang="en-US" sz="2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 algn="just">
              <a:buNone/>
            </a:pPr>
            <a:r>
              <a:rPr lang="ru-RU" dirty="0"/>
              <a:t>Почему:</a:t>
            </a:r>
          </a:p>
          <a:p>
            <a:pPr lvl="1" algn="just"/>
            <a:r>
              <a:rPr lang="ru-RU" dirty="0"/>
              <a:t>Кроссплатформенность</a:t>
            </a:r>
            <a:r>
              <a:rPr lang="en-US" dirty="0"/>
              <a:t> </a:t>
            </a:r>
            <a:r>
              <a:rPr lang="ru-RU" dirty="0"/>
              <a:t>(данные библиотеки особенно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direct.h</a:t>
            </a:r>
            <a:r>
              <a:rPr lang="ru-RU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dirty="0"/>
              <a:t>работают неодинаково на </a:t>
            </a:r>
            <a:r>
              <a:rPr lang="en-US" dirty="0"/>
              <a:t>Linux/Win/macOS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Работа с путями как с объектами</a:t>
            </a:r>
            <a:r>
              <a:rPr lang="en-US" dirty="0"/>
              <a:t>: </a:t>
            </a:r>
            <a:r>
              <a:rPr lang="ru-RU" dirty="0"/>
              <a:t>в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en-US" dirty="0"/>
              <a:t> </a:t>
            </a:r>
            <a:r>
              <a:rPr lang="ru-RU" dirty="0"/>
              <a:t>путь – строка. В </a:t>
            </a:r>
            <a:r>
              <a:rPr lang="en-US" dirty="0"/>
              <a:t>filesystem </a:t>
            </a:r>
            <a:r>
              <a:rPr lang="ru-RU" dirty="0"/>
              <a:t>есть класс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std::filesystem::path</a:t>
            </a:r>
            <a:r>
              <a:rPr lang="ru-RU" dirty="0"/>
              <a:t>, который имеет более удобные инструменты обработки пути</a:t>
            </a:r>
          </a:p>
          <a:p>
            <a:pPr lvl="1" algn="just"/>
            <a:r>
              <a:rPr lang="ru-RU" dirty="0" err="1"/>
              <a:t>Типобезопасность</a:t>
            </a:r>
            <a:r>
              <a:rPr lang="ru-RU" dirty="0"/>
              <a:t> и исключения: в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stdio.h</a:t>
            </a:r>
            <a:r>
              <a:rPr lang="ru-RU" dirty="0"/>
              <a:t> определяем ошибку</a:t>
            </a:r>
            <a:r>
              <a:rPr lang="en-US" dirty="0"/>
              <a:t> </a:t>
            </a:r>
            <a:r>
              <a:rPr lang="ru-RU" dirty="0"/>
              <a:t>по коду возврата. В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</a:t>
            </a:r>
            <a:r>
              <a:rPr lang="ru-RU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ru-RU" dirty="0"/>
              <a:t>исключения</a:t>
            </a:r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lvl="1" algn="just"/>
            <a:r>
              <a:rPr lang="ru-RU" dirty="0"/>
              <a:t>Расширенная функциональность: больше методов по типу обходов директорий (привет итераторам), работы с правами доступа, получения размера файла и т.д.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7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CF024-4038-4451-AF14-2FBD350F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463"/>
          </a:xfrm>
        </p:spPr>
        <p:txBody>
          <a:bodyPr/>
          <a:lstStyle/>
          <a:p>
            <a:r>
              <a:rPr lang="ru-RU" dirty="0"/>
              <a:t>Объекты (классы) в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</a:t>
            </a:r>
            <a:r>
              <a:rPr lang="ru-RU" dirty="0"/>
              <a:t> 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66FA9879-E87B-43A3-A5E9-7CA87EDD11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215448"/>
              </p:ext>
            </p:extLst>
          </p:nvPr>
        </p:nvGraphicFramePr>
        <p:xfrm>
          <a:off x="412378" y="1120588"/>
          <a:ext cx="11645153" cy="522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450">
                  <a:extLst>
                    <a:ext uri="{9D8B030D-6E8A-4147-A177-3AD203B41FA5}">
                      <a16:colId xmlns:a16="http://schemas.microsoft.com/office/drawing/2014/main" val="1461062423"/>
                    </a:ext>
                  </a:extLst>
                </a:gridCol>
                <a:gridCol w="3673102">
                  <a:extLst>
                    <a:ext uri="{9D8B030D-6E8A-4147-A177-3AD203B41FA5}">
                      <a16:colId xmlns:a16="http://schemas.microsoft.com/office/drawing/2014/main" val="1552507115"/>
                    </a:ext>
                  </a:extLst>
                </a:gridCol>
                <a:gridCol w="4419601">
                  <a:extLst>
                    <a:ext uri="{9D8B030D-6E8A-4147-A177-3AD203B41FA5}">
                      <a16:colId xmlns:a16="http://schemas.microsoft.com/office/drawing/2014/main" val="58552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 объекте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450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std::filesystem::path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Представляет путь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хранит путь в нативном формате 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позволяет манипулировать частями пути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1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std::filesystem::</a:t>
                      </a:r>
                      <a:r>
                        <a:rPr lang="en-US" dirty="0" err="1"/>
                        <a:t>directory_entry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Единица информации о файле/каталоге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используется в итераторах;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позволяет узнать тип, размер, атрибуты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273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std::filesystem::</a:t>
                      </a:r>
                      <a:r>
                        <a:rPr lang="en-US" dirty="0" err="1"/>
                        <a:t>directory_iterator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Итератор по содержимому каталога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только верхний уровень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72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std::filesystem::</a:t>
                      </a:r>
                      <a:r>
                        <a:rPr lang="en-US" dirty="0" err="1"/>
                        <a:t>recursive_directory_iterator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Итератор, обходящий каталог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рекурсивный обход каталога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0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std::filesystem::perms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Перечисление прав доступа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244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std::filesystem::</a:t>
                      </a:r>
                      <a:r>
                        <a:rPr lang="en-US" dirty="0" err="1"/>
                        <a:t>file_type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объекта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Регулярный файл, директория,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 (</a:t>
                      </a:r>
                      <a:r>
                        <a:rPr lang="ru-RU" dirty="0"/>
                        <a:t>указатель на файл</a:t>
                      </a:r>
                      <a:r>
                        <a:rPr lang="en-US" dirty="0"/>
                        <a:t>/</a:t>
                      </a:r>
                      <a:r>
                        <a:rPr lang="ru-RU" dirty="0"/>
                        <a:t>директорию</a:t>
                      </a:r>
                      <a:r>
                        <a:rPr lang="en-US" dirty="0"/>
                        <a:t>)</a:t>
                      </a:r>
                      <a:r>
                        <a:rPr lang="ru-RU" dirty="0"/>
                        <a:t> и т.д.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3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std::filesystem::</a:t>
                      </a:r>
                      <a:r>
                        <a:rPr lang="en-US" dirty="0" err="1"/>
                        <a:t>file_status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Хранит информацию о типе и правах объекта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99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Таблица 1. Объекты библиотеки </a:t>
                      </a:r>
                      <a:r>
                        <a:rPr lang="en-US" dirty="0"/>
                        <a:t>filesystem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242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713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40129-8821-4B82-8256-6D170742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043"/>
            <a:ext cx="10515600" cy="773393"/>
          </a:xfrm>
        </p:spPr>
        <p:txBody>
          <a:bodyPr/>
          <a:lstStyle/>
          <a:p>
            <a:r>
              <a:rPr lang="ru-RU" dirty="0"/>
              <a:t>Функции библиотеки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6B32C8B8-D4BB-465B-BB14-7662737AC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711851"/>
              </p:ext>
            </p:extLst>
          </p:nvPr>
        </p:nvGraphicFramePr>
        <p:xfrm>
          <a:off x="643217" y="905436"/>
          <a:ext cx="10905566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030">
                  <a:extLst>
                    <a:ext uri="{9D8B030D-6E8A-4147-A177-3AD203B41FA5}">
                      <a16:colId xmlns:a16="http://schemas.microsoft.com/office/drawing/2014/main" val="1282933443"/>
                    </a:ext>
                  </a:extLst>
                </a:gridCol>
                <a:gridCol w="6277536">
                  <a:extLst>
                    <a:ext uri="{9D8B030D-6E8A-4147-A177-3AD203B41FA5}">
                      <a16:colId xmlns:a16="http://schemas.microsoft.com/office/drawing/2014/main" val="1552795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508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p.filename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Полное имя файла (</a:t>
                      </a:r>
                      <a:r>
                        <a:rPr lang="en-US" dirty="0"/>
                        <a:t>file.txt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11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p.extension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Расширение файла (</a:t>
                      </a:r>
                      <a:r>
                        <a:rPr lang="en-US" dirty="0"/>
                        <a:t>.txt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68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p.stem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Имя файла без расширения (</a:t>
                      </a:r>
                      <a:r>
                        <a:rPr lang="en-US" dirty="0"/>
                        <a:t>file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p.parent_path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 родительской директории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811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p.is_absolute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Проверка: путь абсолютный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30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p.is_relative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Проверка: путь относительный?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41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p.root_path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p.root_name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Путь корня </a:t>
                      </a:r>
                      <a:r>
                        <a:rPr lang="en-US" dirty="0"/>
                        <a:t>/ </a:t>
                      </a:r>
                      <a:r>
                        <a:rPr lang="ru-RU" dirty="0"/>
                        <a:t>название корня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65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p.file_size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Размер файла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0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p.is_directory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Проверка: это директория?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304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p.is_regular_file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Проверка: обычный файл?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617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create_directory</a:t>
                      </a:r>
                      <a:r>
                        <a:rPr lang="en-US" dirty="0"/>
                        <a:t>(p) / </a:t>
                      </a:r>
                      <a:r>
                        <a:rPr lang="en-US" dirty="0" err="1"/>
                        <a:t>create_directories</a:t>
                      </a:r>
                      <a:r>
                        <a:rPr lang="en-US" dirty="0"/>
                        <a:t>(p)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Создать директорию </a:t>
                      </a:r>
                      <a:r>
                        <a:rPr lang="en-US" dirty="0"/>
                        <a:t>/</a:t>
                      </a:r>
                      <a:r>
                        <a:rPr lang="ru-RU" dirty="0"/>
                        <a:t> директории рекурсивно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439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remove(p) / </a:t>
                      </a:r>
                      <a:r>
                        <a:rPr lang="en-US" dirty="0" err="1"/>
                        <a:t>remove_all</a:t>
                      </a:r>
                      <a:r>
                        <a:rPr lang="en-US" dirty="0"/>
                        <a:t>(p)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Удалить объект </a:t>
                      </a:r>
                      <a:r>
                        <a:rPr lang="en-US" dirty="0"/>
                        <a:t>/ </a:t>
                      </a:r>
                      <a:r>
                        <a:rPr lang="ru-RU" dirty="0"/>
                        <a:t>удалить рекурсивно (для директории)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840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rename(p1, p2)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Переименовать объект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00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copy(p1, p2)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Копировать объект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42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Таблица 2. Методы работы с файлами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73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79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7F67321-11ED-48FA-9276-84FD2580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31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Примечание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5D68EE3-2E21-486E-B53D-89CAC5413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941"/>
            <a:ext cx="10515600" cy="5602941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dirty="0"/>
              <a:t>Для записи или считывания информации используются объекты </a:t>
            </a:r>
            <a:r>
              <a:rPr lang="en-US" b="1" dirty="0" err="1"/>
              <a:t>ofstream</a:t>
            </a:r>
            <a:r>
              <a:rPr lang="en-US" dirty="0"/>
              <a:t> / </a:t>
            </a:r>
            <a:r>
              <a:rPr lang="en-US" b="1" dirty="0" err="1"/>
              <a:t>ifstream</a:t>
            </a:r>
            <a:r>
              <a:rPr lang="en-US" dirty="0"/>
              <a:t> </a:t>
            </a:r>
            <a:r>
              <a:rPr lang="ru-RU" dirty="0"/>
              <a:t>соответственно, объявленные в пространстве имён </a:t>
            </a:r>
            <a:r>
              <a:rPr lang="en-US" dirty="0"/>
              <a:t>std</a:t>
            </a:r>
            <a:r>
              <a:rPr lang="ru-RU" dirty="0"/>
              <a:t> и содержащиеся в библиотеке </a:t>
            </a:r>
            <a:r>
              <a:rPr lang="en-US" b="1" dirty="0" err="1"/>
              <a:t>fstream</a:t>
            </a:r>
            <a:endParaRPr lang="ru-RU" b="1" dirty="0"/>
          </a:p>
          <a:p>
            <a:pPr marL="0" indent="0">
              <a:buNone/>
            </a:pPr>
            <a:endParaRPr lang="ru-RU" sz="26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стандартный ввод-вывод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&lt;filesystem&gt;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библиотека для работы с файлами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fstream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библиотека для работы с файловыми потоками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fs = std::filesystem;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переименовали пр-во имён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fs::</a:t>
            </a:r>
            <a:r>
              <a:rPr lang="en-US" sz="2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path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file_path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"file.txt"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создали объект "путь"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ru-RU" sz="2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ofstream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file_path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создали объект выходного потока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Hello</a:t>
            </a:r>
            <a:r>
              <a:rPr lang="ru-RU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\n"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              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запись в файл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file.close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                   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закрыть файл после записи ОБЯЗАТЕЛЬНО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cin.get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                 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задержка экрана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rename(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file_path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"new.txt"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переименование файла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file_path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"new.txt"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ru-RU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cin.get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                 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задержка экрана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remove(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file_path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удаление файла</a:t>
            </a:r>
            <a:endParaRPr lang="ru-RU" sz="2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4500" dirty="0"/>
          </a:p>
        </p:txBody>
      </p:sp>
    </p:spTree>
    <p:extLst>
      <p:ext uri="{BB962C8B-B14F-4D97-AF65-F5344CB8AC3E}">
        <p14:creationId xmlns:p14="http://schemas.microsoft.com/office/powerpoint/2010/main" val="342612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D17E0-EE9B-40C5-A327-42EC76DAC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710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Устная задача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85830E-DD02-4ED1-A252-AAA98E5E6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376"/>
            <a:ext cx="10515600" cy="53967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show() {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"Base\n"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show()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"Derived\n"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b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b-&gt;show();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530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56678-781C-4AA9-8EB3-59C20978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задачи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0C7BE2-37F1-4736-AAC6-0D66DADD8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8574"/>
            <a:ext cx="10515600" cy="218085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Указатель (или ссылка) базового класса МОЖЕТ указывать на объект дочернего класса</a:t>
            </a:r>
          </a:p>
          <a:p>
            <a:r>
              <a:rPr lang="en-US" sz="2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b =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 </a:t>
            </a:r>
            <a:r>
              <a:rPr lang="ru-RU" dirty="0"/>
              <a:t>корректная запись</a:t>
            </a:r>
            <a:endParaRPr lang="en-US" dirty="0"/>
          </a:p>
          <a:p>
            <a:r>
              <a:rPr lang="ru-RU" dirty="0"/>
              <a:t>Соответственно, будет вызван метод дочернего касса </a:t>
            </a:r>
            <a:r>
              <a:rPr lang="en-US" dirty="0"/>
              <a:t>Derived</a:t>
            </a:r>
            <a:endParaRPr lang="ru-RU" dirty="0"/>
          </a:p>
          <a:p>
            <a:r>
              <a:rPr lang="ru-RU" b="1" dirty="0"/>
              <a:t>Ответ:</a:t>
            </a:r>
            <a:r>
              <a:rPr lang="ru-RU" dirty="0"/>
              <a:t> </a:t>
            </a:r>
            <a:r>
              <a:rPr lang="en-US" dirty="0"/>
              <a:t>Derived\n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0765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B9203-0D6A-4AC8-82DB-479FAD28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ru-RU" dirty="0"/>
              <a:t>Устная задача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3B3901-1705-4E2A-9053-5464887A6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0234"/>
            <a:ext cx="10515600" cy="5282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x, y;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Point(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x(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y(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+ 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y + 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}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fr-F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cout </a:t>
            </a:r>
            <a:r>
              <a:rPr lang="fr-FR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"("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</a:t>
            </a:r>
            <a:r>
              <a:rPr lang="fr-FR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","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y </a:t>
            </a:r>
            <a:r>
              <a:rPr lang="fr-FR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")\n"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a(1, 2), b(3, 4);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 = a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c.print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1323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ED393-EA3E-4E64-A2FC-083C9269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392"/>
          </a:xfrm>
        </p:spPr>
        <p:txBody>
          <a:bodyPr>
            <a:normAutofit/>
          </a:bodyPr>
          <a:lstStyle/>
          <a:p>
            <a:r>
              <a:rPr lang="ru-RU" dirty="0"/>
              <a:t>Решение задачи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54B7A7-AA6C-48F5-ADFB-78012C39E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2918"/>
            <a:ext cx="10515600" cy="3119717"/>
          </a:xfrm>
        </p:spPr>
        <p:txBody>
          <a:bodyPr>
            <a:normAutofit/>
          </a:bodyPr>
          <a:lstStyle/>
          <a:p>
            <a:r>
              <a:rPr lang="ru-RU" dirty="0"/>
              <a:t>В перегруженном операторе «+» реализуется возврат нового объекта</a:t>
            </a:r>
          </a:p>
          <a:p>
            <a:r>
              <a:rPr lang="ru-RU" dirty="0"/>
              <a:t>Поля нового объекта инициализируются суммой соответствующих полей:</a:t>
            </a:r>
          </a:p>
          <a:p>
            <a:pPr lvl="1"/>
            <a:r>
              <a:rPr lang="ru-RU" dirty="0"/>
              <a:t>объекта </a:t>
            </a:r>
            <a:r>
              <a:rPr lang="en-US" dirty="0"/>
              <a:t>‘a’</a:t>
            </a:r>
            <a:r>
              <a:rPr lang="ru-RU" dirty="0"/>
              <a:t> (</a:t>
            </a:r>
            <a:r>
              <a:rPr lang="en-US" dirty="0"/>
              <a:t>this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объекта </a:t>
            </a:r>
            <a:r>
              <a:rPr lang="en-US" dirty="0"/>
              <a:t>‘b’</a:t>
            </a:r>
            <a:r>
              <a:rPr lang="ru-RU" dirty="0"/>
              <a:t>, который был передан в оператор</a:t>
            </a:r>
          </a:p>
          <a:p>
            <a:r>
              <a:rPr lang="ru-RU" b="1" dirty="0"/>
              <a:t>Ответ:</a:t>
            </a:r>
            <a:r>
              <a:rPr lang="ru-RU" dirty="0"/>
              <a:t> </a:t>
            </a:r>
            <a:r>
              <a:rPr lang="en-US" dirty="0"/>
              <a:t>(4, 6)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041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D0505-55DF-449B-BCB9-5D55C504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462"/>
          </a:xfrm>
        </p:spPr>
        <p:txBody>
          <a:bodyPr>
            <a:normAutofit/>
          </a:bodyPr>
          <a:lstStyle/>
          <a:p>
            <a:r>
              <a:rPr lang="ru-RU" dirty="0"/>
              <a:t>Устная задача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7CC8EA-AD12-47A0-9C1E-D5A33AEB5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620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Angle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explicit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Angle(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rad(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rad;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printAngle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Angle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"Angle printed\n"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printAngle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(45);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5886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3E461-1889-4D4E-A88E-BBA4C77E9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ru-RU" dirty="0"/>
              <a:t>Решение задачи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A6D8BBE-A2D7-4E67-8A6C-9F129FD1C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Глобальная функция</a:t>
                </a:r>
                <a:r>
                  <a:rPr lang="en-US" dirty="0"/>
                  <a:t> </a:t>
                </a:r>
                <a:r>
                  <a:rPr lang="en-US" dirty="0" err="1"/>
                  <a:t>printAngle</a:t>
                </a:r>
                <a:r>
                  <a:rPr lang="en-US" dirty="0"/>
                  <a:t>()</a:t>
                </a:r>
                <a:r>
                  <a:rPr lang="ru-RU" dirty="0"/>
                  <a:t> ждёт объект типа </a:t>
                </a:r>
                <a:r>
                  <a:rPr lang="en-US" dirty="0"/>
                  <a:t>Angle</a:t>
                </a:r>
                <a:endParaRPr lang="ru-RU" dirty="0"/>
              </a:p>
              <a:p>
                <a:r>
                  <a:rPr lang="ru-RU" dirty="0"/>
                  <a:t>У класса </a:t>
                </a:r>
                <a:r>
                  <a:rPr lang="en-US" dirty="0"/>
                  <a:t>Angle </a:t>
                </a:r>
                <a:r>
                  <a:rPr lang="ru-RU" dirty="0"/>
                  <a:t>есть конструктор, принимающий число с плавающей точкой (</a:t>
                </a:r>
                <a:r>
                  <a:rPr lang="en-US" dirty="0"/>
                  <a:t>double</a:t>
                </a:r>
                <a:r>
                  <a:rPr lang="ru-RU" dirty="0"/>
                  <a:t>)</a:t>
                </a:r>
                <a:r>
                  <a:rPr lang="en-US" dirty="0"/>
                  <a:t>. </a:t>
                </a:r>
                <a:r>
                  <a:rPr lang="ru-RU" dirty="0"/>
                  <a:t>Тем не менее, ничего не мешает передать целочисленный тип данных (</a:t>
                </a:r>
                <a:r>
                  <a:rPr lang="en-US" dirty="0"/>
                  <a:t>int</a:t>
                </a:r>
                <a:r>
                  <a:rPr lang="ru-RU" dirty="0"/>
                  <a:t>). Произойдёт неявное преобразование </a:t>
                </a:r>
                <a:r>
                  <a:rPr lang="en-US" dirty="0"/>
                  <a:t>45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45.0</a:t>
                </a:r>
              </a:p>
              <a:p>
                <a:r>
                  <a:rPr lang="ru-RU" dirty="0"/>
                  <a:t>Так как конструктор объявлен с ключевым словом </a:t>
                </a:r>
                <a:r>
                  <a:rPr lang="en-US" i="1" dirty="0"/>
                  <a:t>explicit</a:t>
                </a:r>
                <a:r>
                  <a:rPr lang="en-US" dirty="0"/>
                  <a:t>, </a:t>
                </a:r>
                <a:r>
                  <a:rPr lang="ru-RU" dirty="0"/>
                  <a:t>то неявное преобразование </a:t>
                </a:r>
                <a:r>
                  <a:rPr lang="en-US" i="1" dirty="0"/>
                  <a:t>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i="1" dirty="0"/>
                  <a:t> double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i="1" dirty="0"/>
                  <a:t> Angle</a:t>
                </a:r>
                <a:r>
                  <a:rPr lang="ru-RU" dirty="0"/>
                  <a:t> не произойдёт</a:t>
                </a:r>
                <a:endParaRPr lang="ru-RU" i="1" dirty="0"/>
              </a:p>
              <a:p>
                <a:r>
                  <a:rPr lang="ru-RU" b="1" dirty="0"/>
                  <a:t>Ответ:</a:t>
                </a:r>
                <a:r>
                  <a:rPr lang="ru-RU" dirty="0"/>
                  <a:t> ошибка компиляции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A6D8BBE-A2D7-4E67-8A6C-9F129FD1C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Trollface - Wikipedia">
            <a:extLst>
              <a:ext uri="{FF2B5EF4-FFF2-40B4-BE49-F238E27FC236}">
                <a16:creationId xmlns:a16="http://schemas.microsoft.com/office/drawing/2014/main" id="{215A8C2A-8931-4F6B-8706-1DBB5A1B9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5088" y="5423648"/>
            <a:ext cx="1318712" cy="106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197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FE35-CE2B-4D4A-A15C-AED4BA80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957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Устная задача </a:t>
            </a:r>
            <a:r>
              <a:rPr lang="en-US" dirty="0"/>
              <a:t>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0B8558-9C0E-4439-80FD-FC097BAE9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094"/>
            <a:ext cx="10515600" cy="51547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Point(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x(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p(10);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p.getX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5015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D6ABD-E373-4ECE-A286-B09AA9F0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r>
              <a:rPr lang="ru-RU" dirty="0"/>
              <a:t>Решение задачи </a:t>
            </a:r>
            <a:r>
              <a:rPr lang="en-US" dirty="0"/>
              <a:t>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EF7BD5-775D-4C42-9996-444FCE088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0835"/>
            <a:ext cx="10515600" cy="2456330"/>
          </a:xfrm>
        </p:spPr>
        <p:txBody>
          <a:bodyPr/>
          <a:lstStyle/>
          <a:p>
            <a:r>
              <a:rPr lang="ru-RU" dirty="0"/>
              <a:t>Создаётся </a:t>
            </a:r>
            <a:r>
              <a:rPr lang="ru-RU" i="1" dirty="0"/>
              <a:t>константный</a:t>
            </a:r>
            <a:r>
              <a:rPr lang="ru-RU" dirty="0"/>
              <a:t> объект класса </a:t>
            </a:r>
            <a:r>
              <a:rPr lang="en-US" dirty="0"/>
              <a:t>Point</a:t>
            </a:r>
            <a:endParaRPr lang="ru-RU" dirty="0"/>
          </a:p>
          <a:p>
            <a:r>
              <a:rPr lang="ru-RU" dirty="0"/>
              <a:t>Пытаемся вызвать метод </a:t>
            </a:r>
            <a:r>
              <a:rPr lang="en-US" dirty="0" err="1"/>
              <a:t>getX</a:t>
            </a:r>
            <a:r>
              <a:rPr lang="en-US" dirty="0"/>
              <a:t>(), </a:t>
            </a:r>
            <a:r>
              <a:rPr lang="ru-RU" dirty="0"/>
              <a:t>который не является константным</a:t>
            </a:r>
            <a:endParaRPr lang="en-US" dirty="0"/>
          </a:p>
          <a:p>
            <a:r>
              <a:rPr lang="ru-RU" dirty="0"/>
              <a:t>Компилятор «не уверен», что внутри метода не происходят изменения объекта, поэтому код «не </a:t>
            </a:r>
            <a:r>
              <a:rPr lang="ru-RU" dirty="0" err="1"/>
              <a:t>компелируется</a:t>
            </a:r>
            <a:r>
              <a:rPr lang="ru-RU" dirty="0"/>
              <a:t>»</a:t>
            </a:r>
            <a:endParaRPr lang="ru-RU" i="1" dirty="0"/>
          </a:p>
          <a:p>
            <a:r>
              <a:rPr lang="ru-RU" b="1" dirty="0"/>
              <a:t>Ответ:</a:t>
            </a:r>
            <a:r>
              <a:rPr lang="ru-RU" dirty="0"/>
              <a:t> ошибка компиляции</a:t>
            </a:r>
          </a:p>
          <a:p>
            <a:endParaRPr lang="ru-RU" dirty="0"/>
          </a:p>
        </p:txBody>
      </p:sp>
      <p:pic>
        <p:nvPicPr>
          <p:cNvPr id="2050" name="Picture 2" descr="Trollface - Wikipedia">
            <a:extLst>
              <a:ext uri="{FF2B5EF4-FFF2-40B4-BE49-F238E27FC236}">
                <a16:creationId xmlns:a16="http://schemas.microsoft.com/office/drawing/2014/main" id="{3C244645-AAF0-432E-AC18-F9A141424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029" y="5414682"/>
            <a:ext cx="1329771" cy="107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085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88798-0DEC-4A06-885C-9E2E87C7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463"/>
          </a:xfrm>
        </p:spPr>
        <p:txBody>
          <a:bodyPr/>
          <a:lstStyle/>
          <a:p>
            <a:r>
              <a:rPr lang="ru-RU" dirty="0"/>
              <a:t>Устная задача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08B0D3-FB0E-415B-AE01-8250CA266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635"/>
            <a:ext cx="10515600" cy="5130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Counter() { count++;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printCount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::count = 0;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a, b, c;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printCount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9891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57501-975D-499B-A2DE-17AD3D838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ru-RU" dirty="0"/>
              <a:t>Решение задачи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75315D-5AAB-471F-86FC-2EBEE9EFB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29" y="2026024"/>
            <a:ext cx="11421035" cy="3648635"/>
          </a:xfrm>
        </p:spPr>
        <p:txBody>
          <a:bodyPr/>
          <a:lstStyle/>
          <a:p>
            <a:r>
              <a:rPr lang="ru-RU" dirty="0"/>
              <a:t>В классе есть </a:t>
            </a:r>
            <a:r>
              <a:rPr lang="en-US" dirty="0"/>
              <a:t>static</a:t>
            </a:r>
            <a:r>
              <a:rPr lang="ru-RU" dirty="0"/>
              <a:t>-поле</a:t>
            </a:r>
            <a:r>
              <a:rPr lang="en-US" dirty="0"/>
              <a:t> count, </a:t>
            </a:r>
            <a:r>
              <a:rPr lang="ru-RU" dirty="0"/>
              <a:t>инициализируемое нулём вне класса</a:t>
            </a:r>
          </a:p>
          <a:p>
            <a:r>
              <a:rPr lang="ru-RU" dirty="0"/>
              <a:t>В классе реализован </a:t>
            </a:r>
            <a:r>
              <a:rPr lang="en-US" dirty="0"/>
              <a:t>static-</a:t>
            </a:r>
            <a:r>
              <a:rPr lang="ru-RU" dirty="0"/>
              <a:t>метод, выводящее значение </a:t>
            </a:r>
            <a:r>
              <a:rPr lang="en-US" dirty="0"/>
              <a:t>static-</a:t>
            </a:r>
            <a:r>
              <a:rPr lang="ru-RU" dirty="0"/>
              <a:t>поля</a:t>
            </a:r>
          </a:p>
          <a:p>
            <a:r>
              <a:rPr lang="ru-RU" dirty="0"/>
              <a:t>Уточнение о </a:t>
            </a:r>
            <a:r>
              <a:rPr lang="en-US" dirty="0"/>
              <a:t>static-</a:t>
            </a:r>
            <a:r>
              <a:rPr lang="ru-RU" dirty="0"/>
              <a:t>методах:</a:t>
            </a:r>
          </a:p>
          <a:p>
            <a:pPr lvl="1"/>
            <a:r>
              <a:rPr lang="ru-RU" dirty="0"/>
              <a:t>НЕ работают с </a:t>
            </a:r>
            <a:r>
              <a:rPr lang="en-US" dirty="0"/>
              <a:t>this (</a:t>
            </a:r>
            <a:r>
              <a:rPr lang="ru-RU" dirty="0"/>
              <a:t>очевидно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dirty="0"/>
              <a:t>Работают со </a:t>
            </a:r>
            <a:r>
              <a:rPr lang="en-US" dirty="0"/>
              <a:t>static-</a:t>
            </a:r>
            <a:r>
              <a:rPr lang="ru-RU" dirty="0"/>
              <a:t>полями</a:t>
            </a:r>
          </a:p>
          <a:p>
            <a:pPr lvl="1"/>
            <a:r>
              <a:rPr lang="ru-RU" dirty="0"/>
              <a:t>Могут принимать объекты класса в качестве аргумента и работать с их НЕ</a:t>
            </a:r>
            <a:r>
              <a:rPr lang="en-US" dirty="0"/>
              <a:t> static-</a:t>
            </a:r>
            <a:r>
              <a:rPr lang="ru-RU" dirty="0"/>
              <a:t>полями</a:t>
            </a:r>
          </a:p>
          <a:p>
            <a:r>
              <a:rPr lang="ru-RU" b="1" dirty="0"/>
              <a:t>Ответ</a:t>
            </a:r>
            <a:r>
              <a:rPr lang="ru-RU" dirty="0"/>
              <a:t>: 3</a:t>
            </a:r>
          </a:p>
        </p:txBody>
      </p:sp>
    </p:spTree>
    <p:extLst>
      <p:ext uri="{BB962C8B-B14F-4D97-AF65-F5344CB8AC3E}">
        <p14:creationId xmlns:p14="http://schemas.microsoft.com/office/powerpoint/2010/main" val="680821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9C97B-99C6-4956-A916-E448BDE6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Устная задача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AFFE27-7723-461B-A65A-192036003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412"/>
            <a:ext cx="10515600" cy="54505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value;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Box(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value(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&gt;&amp;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&gt;(value +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.value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print()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value &lt;&lt;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"\n"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b1(10), b2(20);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b3 = b1 </a:t>
            </a:r>
            <a:r>
              <a:rPr lang="en-US" sz="1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b2;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b3.print();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s1(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s2(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"World!"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s3 = s1 </a:t>
            </a:r>
            <a:r>
              <a:rPr lang="en-US" sz="1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s2;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s3.print();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0661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994453-9AC0-40AE-BAA0-97029782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/>
          <a:lstStyle/>
          <a:p>
            <a:r>
              <a:rPr lang="ru-RU" dirty="0"/>
              <a:t>Решение задачи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B09BE8-2B5C-42F9-8FA1-5809B1A1E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29" y="2294966"/>
            <a:ext cx="11403105" cy="2940422"/>
          </a:xfrm>
        </p:spPr>
        <p:txBody>
          <a:bodyPr>
            <a:normAutofit/>
          </a:bodyPr>
          <a:lstStyle/>
          <a:p>
            <a:r>
              <a:rPr lang="ru-RU" dirty="0"/>
              <a:t>Комбинация шаблонов и перегрузки оператора – круто!</a:t>
            </a:r>
          </a:p>
          <a:p>
            <a:r>
              <a:rPr lang="ru-RU" b="1" dirty="0"/>
              <a:t>Нюанс</a:t>
            </a:r>
            <a:r>
              <a:rPr lang="ru-RU" dirty="0"/>
              <a:t>: тип </a:t>
            </a:r>
            <a:r>
              <a:rPr lang="en-US" dirty="0"/>
              <a:t>T </a:t>
            </a:r>
            <a:r>
              <a:rPr lang="ru-RU" dirty="0"/>
              <a:t>должен поддерживать операцию </a:t>
            </a:r>
            <a:r>
              <a:rPr lang="en-US" dirty="0"/>
              <a:t>“+”</a:t>
            </a:r>
          </a:p>
          <a:p>
            <a:r>
              <a:rPr lang="ru-RU" dirty="0"/>
              <a:t>Если </a:t>
            </a:r>
            <a:r>
              <a:rPr lang="en-US" dirty="0"/>
              <a:t>T </a:t>
            </a:r>
            <a:r>
              <a:rPr lang="ru-RU" dirty="0"/>
              <a:t>не поддерживает операцию «+» - ошибка на этапе компиляции</a:t>
            </a:r>
          </a:p>
          <a:p>
            <a:r>
              <a:rPr lang="ru-RU" dirty="0"/>
              <a:t>Способы борьбы с этим, конечно, существуют (какие?..)</a:t>
            </a:r>
          </a:p>
          <a:p>
            <a:r>
              <a:rPr lang="ru-RU" b="1" dirty="0"/>
              <a:t>Ответ</a:t>
            </a:r>
            <a:r>
              <a:rPr lang="ru-RU" dirty="0"/>
              <a:t>: 30</a:t>
            </a:r>
            <a:r>
              <a:rPr lang="en-US" dirty="0"/>
              <a:t>\</a:t>
            </a:r>
            <a:r>
              <a:rPr lang="en-US" dirty="0" err="1"/>
              <a:t>nHello</a:t>
            </a:r>
            <a:r>
              <a:rPr lang="ru-RU" dirty="0"/>
              <a:t> </a:t>
            </a:r>
            <a:r>
              <a:rPr lang="en-US" dirty="0"/>
              <a:t>World!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7613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666EC-9314-4EE3-9C9D-D1B736C0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Практическая задача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E453C-1C93-4D9E-9231-9738D7C1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012"/>
            <a:ext cx="10515600" cy="55491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Создать небольшую модель библиотеки:</a:t>
            </a:r>
          </a:p>
          <a:p>
            <a:r>
              <a:rPr lang="ru-RU" sz="2400" dirty="0"/>
              <a:t>Класс </a:t>
            </a:r>
            <a:r>
              <a:rPr lang="en-US" sz="2400" dirty="0"/>
              <a:t>Book</a:t>
            </a:r>
          </a:p>
          <a:p>
            <a:pPr lvl="1"/>
            <a:r>
              <a:rPr lang="ru-RU" sz="1800" dirty="0"/>
              <a:t>Поля: </a:t>
            </a:r>
            <a:r>
              <a:rPr lang="en-US" sz="1800" dirty="0"/>
              <a:t>title (string), author (string), year (int)</a:t>
            </a:r>
          </a:p>
          <a:p>
            <a:pPr lvl="1"/>
            <a:r>
              <a:rPr lang="ru-RU" sz="1800" dirty="0"/>
              <a:t>Конструктор с инициализацией всех полей</a:t>
            </a:r>
          </a:p>
          <a:p>
            <a:pPr lvl="1"/>
            <a:r>
              <a:rPr lang="ru-RU" sz="1800" dirty="0"/>
              <a:t>Константный метод </a:t>
            </a:r>
            <a:r>
              <a:rPr lang="en-US" sz="1800" dirty="0"/>
              <a:t>print() </a:t>
            </a:r>
            <a:r>
              <a:rPr lang="ru-RU" sz="1800" dirty="0"/>
              <a:t>для вывода информации о книге</a:t>
            </a:r>
          </a:p>
          <a:p>
            <a:pPr lvl="1"/>
            <a:r>
              <a:rPr lang="ru-RU" sz="1800" dirty="0"/>
              <a:t>Перегрузка </a:t>
            </a:r>
            <a:r>
              <a:rPr lang="en-US" sz="1800" dirty="0"/>
              <a:t>operator== (</a:t>
            </a:r>
            <a:r>
              <a:rPr lang="ru-RU" sz="1800" dirty="0"/>
              <a:t>книги равны, если совпадает </a:t>
            </a:r>
            <a:r>
              <a:rPr lang="en-US" sz="1800" dirty="0"/>
              <a:t>title </a:t>
            </a:r>
            <a:r>
              <a:rPr lang="ru-RU" sz="1800" dirty="0"/>
              <a:t>и </a:t>
            </a:r>
            <a:r>
              <a:rPr lang="en-US" sz="1800" dirty="0"/>
              <a:t>author)</a:t>
            </a:r>
          </a:p>
          <a:p>
            <a:r>
              <a:rPr lang="ru-RU" sz="2400" dirty="0"/>
              <a:t>Класс </a:t>
            </a:r>
            <a:r>
              <a:rPr lang="en-US" sz="2400" dirty="0"/>
              <a:t>Library</a:t>
            </a:r>
          </a:p>
          <a:p>
            <a:pPr lvl="1"/>
            <a:r>
              <a:rPr lang="ru-RU" sz="1800" dirty="0"/>
              <a:t>Хранит книги в </a:t>
            </a:r>
            <a:r>
              <a:rPr lang="en-US" sz="1800" dirty="0"/>
              <a:t>std::vector&lt;Book&gt;</a:t>
            </a:r>
          </a:p>
          <a:p>
            <a:pPr lvl="1"/>
            <a:r>
              <a:rPr lang="en-US" sz="1800" dirty="0" err="1"/>
              <a:t>addBook</a:t>
            </a:r>
            <a:r>
              <a:rPr lang="en-US" sz="1800" dirty="0"/>
              <a:t>(const Book&amp;) — </a:t>
            </a:r>
            <a:r>
              <a:rPr lang="ru-RU" sz="1800" dirty="0"/>
              <a:t>добавляет книгу</a:t>
            </a:r>
          </a:p>
          <a:p>
            <a:pPr lvl="1"/>
            <a:r>
              <a:rPr lang="en-US" sz="1800" dirty="0" err="1"/>
              <a:t>printBooks</a:t>
            </a:r>
            <a:r>
              <a:rPr lang="en-US" sz="1800" dirty="0"/>
              <a:t>() — </a:t>
            </a:r>
            <a:r>
              <a:rPr lang="ru-RU" sz="1800" dirty="0"/>
              <a:t>выводит все книги</a:t>
            </a:r>
          </a:p>
          <a:p>
            <a:pPr lvl="1"/>
            <a:r>
              <a:rPr lang="en-US" sz="1800" dirty="0" err="1"/>
              <a:t>findBook</a:t>
            </a:r>
            <a:r>
              <a:rPr lang="en-US" sz="1800" dirty="0"/>
              <a:t>(const Book&amp;) — </a:t>
            </a:r>
            <a:r>
              <a:rPr lang="ru-RU" sz="1800" dirty="0"/>
              <a:t>ищет книгу по равенству (==) и возвращает индекс или -1</a:t>
            </a:r>
          </a:p>
          <a:p>
            <a:r>
              <a:rPr lang="ru-RU" sz="2400" dirty="0"/>
              <a:t>Расширение через наследование: Класс </a:t>
            </a:r>
            <a:r>
              <a:rPr lang="en-US" sz="2400" dirty="0" err="1"/>
              <a:t>EBook</a:t>
            </a:r>
            <a:r>
              <a:rPr lang="en-US" sz="2400" dirty="0"/>
              <a:t> </a:t>
            </a:r>
            <a:r>
              <a:rPr lang="ru-RU" sz="2400" dirty="0"/>
              <a:t>от </a:t>
            </a:r>
            <a:r>
              <a:rPr lang="en-US" sz="2400" dirty="0"/>
              <a:t>Book</a:t>
            </a:r>
          </a:p>
          <a:p>
            <a:pPr lvl="1"/>
            <a:r>
              <a:rPr lang="ru-RU" sz="1800" dirty="0"/>
              <a:t>Дополнительно хранит </a:t>
            </a:r>
            <a:r>
              <a:rPr lang="en-US" sz="1800" dirty="0" err="1"/>
              <a:t>fileSize</a:t>
            </a:r>
            <a:r>
              <a:rPr lang="en-US" sz="1800" dirty="0"/>
              <a:t> (double, </a:t>
            </a:r>
            <a:r>
              <a:rPr lang="ru-RU" sz="1800" dirty="0"/>
              <a:t>МБ)</a:t>
            </a:r>
          </a:p>
          <a:p>
            <a:pPr lvl="1"/>
            <a:r>
              <a:rPr lang="ru-RU" sz="1800" dirty="0"/>
              <a:t>Переопределяет метод </a:t>
            </a:r>
            <a:r>
              <a:rPr lang="en-US" sz="1800" dirty="0"/>
              <a:t>print(), </a:t>
            </a:r>
            <a:r>
              <a:rPr lang="ru-RU" sz="1800" dirty="0"/>
              <a:t>чтобы выводить и размер файла</a:t>
            </a:r>
          </a:p>
        </p:txBody>
      </p:sp>
    </p:spTree>
    <p:extLst>
      <p:ext uri="{BB962C8B-B14F-4D97-AF65-F5344CB8AC3E}">
        <p14:creationId xmlns:p14="http://schemas.microsoft.com/office/powerpoint/2010/main" val="1585826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F75BC-9901-4B94-A17B-74F3736E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534"/>
          </a:xfrm>
        </p:spPr>
        <p:txBody>
          <a:bodyPr/>
          <a:lstStyle/>
          <a:p>
            <a:r>
              <a:rPr lang="ru-RU" dirty="0"/>
              <a:t>Практическая задача 1. Работа с моделью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234794-B3E0-487A-A10F-F2FDC31F3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4989"/>
            <a:ext cx="10515600" cy="2563906"/>
          </a:xfrm>
        </p:spPr>
        <p:txBody>
          <a:bodyPr/>
          <a:lstStyle/>
          <a:p>
            <a:r>
              <a:rPr lang="ru-RU" dirty="0"/>
              <a:t>Создать несколько объектов Book и </a:t>
            </a:r>
            <a:r>
              <a:rPr lang="ru-RU" dirty="0" err="1"/>
              <a:t>EBook</a:t>
            </a:r>
            <a:endParaRPr lang="ru-RU" dirty="0"/>
          </a:p>
          <a:p>
            <a:r>
              <a:rPr lang="ru-RU" dirty="0"/>
              <a:t>Добавить их в Library</a:t>
            </a:r>
          </a:p>
          <a:p>
            <a:r>
              <a:rPr lang="ru-RU" dirty="0"/>
              <a:t>Вывести список книг</a:t>
            </a:r>
          </a:p>
          <a:p>
            <a:r>
              <a:rPr lang="ru-RU" dirty="0"/>
              <a:t>Проверить, что поиск книги работает</a:t>
            </a:r>
          </a:p>
          <a:p>
            <a:r>
              <a:rPr lang="ru-RU" dirty="0"/>
              <a:t>Продемонстрировать использование перегруженного «==»</a:t>
            </a:r>
          </a:p>
        </p:txBody>
      </p:sp>
    </p:spTree>
    <p:extLst>
      <p:ext uri="{BB962C8B-B14F-4D97-AF65-F5344CB8AC3E}">
        <p14:creationId xmlns:p14="http://schemas.microsoft.com/office/powerpoint/2010/main" val="15370921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1828</Words>
  <Application>Microsoft Office PowerPoint</Application>
  <PresentationFormat>Широкоэкранный</PresentationFormat>
  <Paragraphs>290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Cascadia Mono</vt:lpstr>
      <vt:lpstr>Тема Office</vt:lpstr>
      <vt:lpstr>Практика. ООП</vt:lpstr>
      <vt:lpstr>Ключевое слово explicit</vt:lpstr>
      <vt:lpstr>Пример + устное задание</vt:lpstr>
      <vt:lpstr>Вывод</vt:lpstr>
      <vt:lpstr>Разбор задачи</vt:lpstr>
      <vt:lpstr>Решение</vt:lpstr>
      <vt:lpstr>Библиотека Filesystem</vt:lpstr>
      <vt:lpstr>Объекты (классы) в filesystem </vt:lpstr>
      <vt:lpstr>Функции библиотеки filesystem</vt:lpstr>
      <vt:lpstr>Примечание</vt:lpstr>
      <vt:lpstr>Устная задача 1</vt:lpstr>
      <vt:lpstr>Решение задачи 1</vt:lpstr>
      <vt:lpstr>Устная задача 2</vt:lpstr>
      <vt:lpstr>Решение задачи 2</vt:lpstr>
      <vt:lpstr>Устная задача 3</vt:lpstr>
      <vt:lpstr>Решение задачи 3</vt:lpstr>
      <vt:lpstr>Устная задача 4</vt:lpstr>
      <vt:lpstr>Решение задачи 4</vt:lpstr>
      <vt:lpstr>Устная задача 5</vt:lpstr>
      <vt:lpstr>Решение задачи 5</vt:lpstr>
      <vt:lpstr>Устная задача 6</vt:lpstr>
      <vt:lpstr>Решение задачи 6</vt:lpstr>
      <vt:lpstr>Практическая задача 1</vt:lpstr>
      <vt:lpstr>Практическая задача 1. Работа с моделью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Практика. ООП</dc:title>
  <dc:creator>varitch.rodion.2@gmail.com</dc:creator>
  <cp:lastModifiedBy>teacher</cp:lastModifiedBy>
  <cp:revision>39</cp:revision>
  <dcterms:created xsi:type="dcterms:W3CDTF">2025-11-27T11:11:50Z</dcterms:created>
  <dcterms:modified xsi:type="dcterms:W3CDTF">2025-11-27T18:49:21Z</dcterms:modified>
</cp:coreProperties>
</file>