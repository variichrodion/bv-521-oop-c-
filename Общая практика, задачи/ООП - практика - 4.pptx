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1" r:id="rId4"/>
    <p:sldId id="262" r:id="rId5"/>
    <p:sldId id="263" r:id="rId6"/>
    <p:sldId id="264" r:id="rId7"/>
    <p:sldId id="266" r:id="rId8"/>
    <p:sldId id="257" r:id="rId9"/>
    <p:sldId id="258" r:id="rId10"/>
    <p:sldId id="259" r:id="rId11"/>
    <p:sldId id="260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B3B3"/>
    <a:srgbClr val="C0BDE9"/>
    <a:srgbClr val="C8F0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01EFF9-AD48-4F4E-80DE-3085CEC328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E56B0BB-CF74-4CDD-A12B-82563AFA5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6B0387-C5A3-46A4-B07E-37DF04BC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C7C2-0EF2-4406-9479-B2F56FEB6C4B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7FEE5E-A90C-4B82-97FB-4FB23578E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6ED43E-0E4D-432F-8950-6A790BC40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C8164-8F99-4B1C-8C1C-473C0CBF50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8978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4419F4-B701-447F-AB5E-A41344244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15CE92-6602-473F-A028-E7A7F4CC8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85B7B1-626D-49C4-977C-95ED2E9B8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C7C2-0EF2-4406-9479-B2F56FEB6C4B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C251B9-4D24-4361-89CB-04EE160ED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D9295F-CA00-43F2-838B-553C6C713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C8164-8F99-4B1C-8C1C-473C0CBF50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028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6C656D-388C-4BD3-9E97-12B71A632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CB03AA-AC76-4CC3-A9AF-02854F250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13625F-EEB7-4404-A8C6-8FB99D3F7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C7C2-0EF2-4406-9479-B2F56FEB6C4B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B6AF3D-3A45-426F-845E-43141D802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4B7E1E-DC9C-414A-A2F1-42ED557D8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C8164-8F99-4B1C-8C1C-473C0CBF50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4454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805DAD-EAFB-4652-BC50-92B0DCCAE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7204D9-753F-4155-B23F-BB66A804BD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286ED86-8365-4A14-B3CD-3C9163A4B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02C1243-6CA9-4CE2-8EFE-249AAEFC7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C7C2-0EF2-4406-9479-B2F56FEB6C4B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FC15DE-31FE-4FA2-A5FC-686D1DF62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4C1E1F-90D0-47E9-A7BB-DED9A53ED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C8164-8F99-4B1C-8C1C-473C0CBF50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9117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19BF4D-94E5-44C2-8CD2-6116321D0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9E89D83-1F1C-425A-935C-20C0FFCF7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81B545F-C297-496C-92A5-7B06837FA4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F8A9CEE-C046-473C-BF84-8B57AEB5CC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6B54D18-67AE-49AD-9168-5FACA5135A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519F801-8032-4107-AF53-3FBF1A51C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C7C2-0EF2-4406-9479-B2F56FEB6C4B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BEEF1C4-60E9-4B66-AE01-0E7C8D8E6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C154376-3EA2-4465-A4BD-D0767F1D2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C8164-8F99-4B1C-8C1C-473C0CBF50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8144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E85833-877B-4A48-81DA-5EAA6FA48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4F4664A-0DBF-4ADB-819F-ACE28D17E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C7C2-0EF2-4406-9479-B2F56FEB6C4B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6987864-83EE-4CBC-BCB4-6CCC8F4F7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13ABE1C-60ED-4050-8191-70BB66DAC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C8164-8F99-4B1C-8C1C-473C0CBF50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4197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1869425-3AC2-4C06-AB09-E1BDBACA9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C7C2-0EF2-4406-9479-B2F56FEB6C4B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2DCAD32-17AC-4794-9DB8-A8AD14A9A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DC8C72C-6984-4293-A532-333165316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C8164-8F99-4B1C-8C1C-473C0CBF50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3741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75C3C7-8EB5-4BE8-B11D-3046F087D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67A68A-F6B5-4CB2-9A3E-26ECCA25C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EADA2C1-4272-4FD2-AFE1-0085E6EF4A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BED26F6-4F13-4202-BA29-C05618408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C7C2-0EF2-4406-9479-B2F56FEB6C4B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57E4969-CD6C-45A7-AEA2-83C77A69D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B45187-F2A4-4BB7-97F2-38EF118B3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C8164-8F99-4B1C-8C1C-473C0CBF50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866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5BC3AB-97E4-4F68-AEBF-823AA8BB8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CDACDCC-87DA-4620-AC41-104DF85ADA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2D67AB0-E380-4132-8440-830E4A0FD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90D45A6-82FB-4E2E-A9A9-07D364766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C7C2-0EF2-4406-9479-B2F56FEB6C4B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85B8E12-BF8F-4972-A3ED-924F7B5C0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126F8AA-48C2-4993-8895-DD4AA215B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C8164-8F99-4B1C-8C1C-473C0CBF50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6202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8D783-68DE-4C98-85A0-17D3C8CF8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0269555-237B-4C14-B5C5-2B0A549CE2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DD2117-0B3F-417C-A607-225ADAD96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C7C2-0EF2-4406-9479-B2F56FEB6C4B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B0E8CA-D64C-4B70-9A2D-AF5CC5442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BCE125-8815-4DF2-95F8-1CC4B0C3F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C8164-8F99-4B1C-8C1C-473C0CBF50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9378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5685BA-277B-49CA-B6F2-D6630A100A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794BD47-2A05-4F48-AFCA-F2653D6B7E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E5B2E1-B119-4DF3-9C78-7220A9565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C7C2-0EF2-4406-9479-B2F56FEB6C4B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2B1205-2F99-408C-B8E2-4449768E6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F2843D-F0A6-431D-912F-CC296FF9E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C8164-8F99-4B1C-8C1C-473C0CBF50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7641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ADF145-E6CF-4D0E-8925-0DD824E9B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E23B1A4-51CA-44D8-AD2A-F7BCA8C51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7C4215-5C55-484F-88AA-F5D206DE73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DC7C2-0EF2-4406-9479-B2F56FEB6C4B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56E3F6-6A3A-4E16-9DC3-AD8DFEB4AA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18B088-B968-4E0D-A75B-7CBD12FA78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AC8164-8F99-4B1C-8C1C-473C0CBF50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8383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EF60C7-FDDD-4658-A238-569A059DE4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ru-RU" dirty="0"/>
              <a:t>ООП. Практика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4FB9C4A-E618-47CA-B1A0-12493ECF46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3599"/>
          </a:xfrm>
        </p:spPr>
        <p:txBody>
          <a:bodyPr>
            <a:normAutofit lnSpcReduction="10000"/>
          </a:bodyPr>
          <a:lstStyle/>
          <a:p>
            <a:endParaRPr lang="ru-RU" dirty="0"/>
          </a:p>
          <a:p>
            <a:pPr algn="r"/>
            <a:r>
              <a:rPr lang="ru-RU" dirty="0"/>
              <a:t>Модификаторы доступа при наследовании</a:t>
            </a:r>
          </a:p>
          <a:p>
            <a:pPr algn="r"/>
            <a:r>
              <a:rPr lang="ru-RU" dirty="0"/>
              <a:t>Множественное наследование</a:t>
            </a:r>
          </a:p>
          <a:p>
            <a:pPr algn="r"/>
            <a:r>
              <a:rPr lang="ru-RU" dirty="0"/>
              <a:t>Немного об </a:t>
            </a:r>
            <a:r>
              <a:rPr lang="en-US" dirty="0"/>
              <a:t>explicit </a:t>
            </a:r>
            <a:r>
              <a:rPr lang="ru-RU" dirty="0"/>
              <a:t>конструктора</a:t>
            </a:r>
          </a:p>
          <a:p>
            <a:pPr algn="r"/>
            <a:r>
              <a:rPr lang="ru-RU" dirty="0"/>
              <a:t>02.12.2025</a:t>
            </a:r>
          </a:p>
        </p:txBody>
      </p:sp>
    </p:spTree>
    <p:extLst>
      <p:ext uri="{BB962C8B-B14F-4D97-AF65-F5344CB8AC3E}">
        <p14:creationId xmlns:p14="http://schemas.microsoft.com/office/powerpoint/2010/main" val="1180269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547B1A-CC94-4943-87A5-610F814CD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42682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модификаторов доступа при наследовании</a:t>
            </a:r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0DA5C637-1396-4EC9-9B7E-1F60EF7C50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1639175"/>
              </p:ext>
            </p:extLst>
          </p:nvPr>
        </p:nvGraphicFramePr>
        <p:xfrm>
          <a:off x="331694" y="1825624"/>
          <a:ext cx="11022107" cy="2593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8659">
                  <a:extLst>
                    <a:ext uri="{9D8B030D-6E8A-4147-A177-3AD203B41FA5}">
                      <a16:colId xmlns:a16="http://schemas.microsoft.com/office/drawing/2014/main" val="2669919511"/>
                    </a:ext>
                  </a:extLst>
                </a:gridCol>
                <a:gridCol w="2122394">
                  <a:extLst>
                    <a:ext uri="{9D8B030D-6E8A-4147-A177-3AD203B41FA5}">
                      <a16:colId xmlns:a16="http://schemas.microsoft.com/office/drawing/2014/main" val="3236569603"/>
                    </a:ext>
                  </a:extLst>
                </a:gridCol>
                <a:gridCol w="2755527">
                  <a:extLst>
                    <a:ext uri="{9D8B030D-6E8A-4147-A177-3AD203B41FA5}">
                      <a16:colId xmlns:a16="http://schemas.microsoft.com/office/drawing/2014/main" val="3619365120"/>
                    </a:ext>
                  </a:extLst>
                </a:gridCol>
                <a:gridCol w="2755527">
                  <a:extLst>
                    <a:ext uri="{9D8B030D-6E8A-4147-A177-3AD203B41FA5}">
                      <a16:colId xmlns:a16="http://schemas.microsoft.com/office/drawing/2014/main" val="509739740"/>
                    </a:ext>
                  </a:extLst>
                </a:gridCol>
              </a:tblGrid>
              <a:tr h="648494">
                <a:tc>
                  <a:txBody>
                    <a:bodyPr/>
                    <a:lstStyle/>
                    <a:p>
                      <a:pPr algn="r"/>
                      <a:r>
                        <a:rPr lang="ru-RU" dirty="0"/>
                        <a:t>исход. мод-тор</a:t>
                      </a:r>
                      <a:endParaRPr lang="en-US" dirty="0"/>
                    </a:p>
                    <a:p>
                      <a:r>
                        <a:rPr lang="ru-RU" dirty="0"/>
                        <a:t>наследование</a:t>
                      </a:r>
                    </a:p>
                  </a:txBody>
                  <a:tcPr>
                    <a:lnTlToB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Public 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Private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Protected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558276"/>
                  </a:ext>
                </a:extLst>
              </a:tr>
              <a:tr h="64849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Public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public</a:t>
                      </a:r>
                      <a:endParaRPr lang="ru-RU" dirty="0"/>
                    </a:p>
                  </a:txBody>
                  <a:tcPr anchor="ctr">
                    <a:solidFill>
                      <a:srgbClr val="C8F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private</a:t>
                      </a:r>
                      <a:endParaRPr lang="ru-RU" dirty="0"/>
                    </a:p>
                  </a:txBody>
                  <a:tcPr anchor="ctr">
                    <a:solidFill>
                      <a:srgbClr val="F3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protected</a:t>
                      </a:r>
                      <a:endParaRPr lang="ru-RU" dirty="0"/>
                    </a:p>
                  </a:txBody>
                  <a:tcPr anchor="ctr">
                    <a:solidFill>
                      <a:srgbClr val="C0B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434671"/>
                  </a:ext>
                </a:extLst>
              </a:tr>
              <a:tr h="64849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Private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недоступно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недоступно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недоступно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756159"/>
                  </a:ext>
                </a:extLst>
              </a:tr>
              <a:tr h="64849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Protected 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protected</a:t>
                      </a:r>
                      <a:endParaRPr lang="ru-RU" dirty="0"/>
                    </a:p>
                  </a:txBody>
                  <a:tcPr anchor="ctr">
                    <a:solidFill>
                      <a:srgbClr val="C0BD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private</a:t>
                      </a:r>
                      <a:endParaRPr lang="ru-RU" dirty="0"/>
                    </a:p>
                  </a:txBody>
                  <a:tcPr anchor="ctr">
                    <a:solidFill>
                      <a:srgbClr val="F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protected</a:t>
                      </a:r>
                      <a:endParaRPr lang="ru-RU" dirty="0"/>
                    </a:p>
                  </a:txBody>
                  <a:tcPr anchor="ctr">
                    <a:solidFill>
                      <a:srgbClr val="C0B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159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0920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4014CA-3823-4DE3-86C4-241432D47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44071"/>
          </a:xfrm>
        </p:spPr>
        <p:txBody>
          <a:bodyPr/>
          <a:lstStyle/>
          <a:p>
            <a:r>
              <a:rPr lang="ru-RU" dirty="0"/>
              <a:t>Множественное наследование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15DB4F-382C-48C4-9DD8-BD50E8171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906" y="744070"/>
            <a:ext cx="11385177" cy="6113929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ru-RU" sz="3400" dirty="0"/>
              <a:t>Из определения легко догадаться, что производный класс наследует признаки сразу нескольких базовых классов. Данный механизм поддерживается в </a:t>
            </a:r>
            <a:r>
              <a:rPr lang="en-US" sz="3400" dirty="0"/>
              <a:t>C++, </a:t>
            </a:r>
            <a:r>
              <a:rPr lang="ru-RU" sz="3400" dirty="0"/>
              <a:t>в отличие от </a:t>
            </a:r>
            <a:r>
              <a:rPr lang="en-US" sz="3400" dirty="0"/>
              <a:t>C# </a:t>
            </a:r>
            <a:r>
              <a:rPr lang="ru-RU" sz="3400" dirty="0"/>
              <a:t>или </a:t>
            </a:r>
            <a:r>
              <a:rPr lang="en-US" sz="3400" dirty="0"/>
              <a:t>Java. 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&lt;iostream&gt;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std;</a:t>
            </a:r>
            <a:endParaRPr lang="ru-RU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Animal {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eat()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&lt;&lt; </a:t>
            </a:r>
            <a:r>
              <a:rPr lang="en-US" sz="2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"Eating..."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&lt;&lt;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endl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pPr marL="0" indent="0">
              <a:buNone/>
            </a:pPr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};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Walker {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walk()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&lt;&lt; </a:t>
            </a:r>
            <a:r>
              <a:rPr lang="en-US" sz="2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"Walking..."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&lt;&lt;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endl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pPr marL="0" indent="0">
              <a:buNone/>
            </a:pPr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};</a:t>
            </a:r>
          </a:p>
          <a:p>
            <a:pPr marL="0" indent="0">
              <a:buNone/>
            </a:pPr>
            <a:r>
              <a:rPr lang="ru-RU" sz="2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Класс наследует поведение сразу от двух классов</a:t>
            </a:r>
            <a:endParaRPr lang="ru-RU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Dog :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Animal,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Walker {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bark()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&lt;&lt; </a:t>
            </a:r>
            <a:r>
              <a:rPr lang="en-US" sz="2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"Woof!"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&lt;&lt;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endl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pPr marL="0" indent="0">
              <a:buNone/>
            </a:pPr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};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Dog d;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d.eat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d.walk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d.bark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0;</a:t>
            </a:r>
          </a:p>
          <a:p>
            <a:pPr marL="0" indent="0">
              <a:buNone/>
            </a:pPr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3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9E83F4C-BC95-4C1A-B508-58C12E6A5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8504" y="2731573"/>
            <a:ext cx="2242296" cy="1681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117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928E03-A526-4A98-86D3-6D6ECA055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70965"/>
          </a:xfrm>
        </p:spPr>
        <p:txBody>
          <a:bodyPr/>
          <a:lstStyle/>
          <a:p>
            <a:r>
              <a:rPr lang="ru-RU" dirty="0"/>
              <a:t>Множественное наследование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2DC837-D133-4581-9EF1-85F877452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376" y="887506"/>
            <a:ext cx="11340353" cy="5970494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На самом деле, множественное наследование, зачастую, усложняет иерархию, структуру памяти, в которой располагаются классы, и применяется далеко не часто</a:t>
            </a:r>
          </a:p>
          <a:p>
            <a:pPr marL="0" indent="0" algn="just">
              <a:buNone/>
            </a:pPr>
            <a:r>
              <a:rPr lang="ru-RU" dirty="0"/>
              <a:t>Важные уточнения:</a:t>
            </a:r>
          </a:p>
          <a:p>
            <a:pPr algn="just"/>
            <a:r>
              <a:rPr lang="ru-RU" dirty="0"/>
              <a:t>Понятия «интерфейс» в стандарте С++ </a:t>
            </a:r>
            <a:r>
              <a:rPr lang="ru-RU" b="1" dirty="0"/>
              <a:t>не существует</a:t>
            </a:r>
            <a:r>
              <a:rPr lang="ru-RU" dirty="0"/>
              <a:t>. Это скорее договорённость между программистами</a:t>
            </a:r>
          </a:p>
          <a:p>
            <a:pPr algn="just"/>
            <a:r>
              <a:rPr lang="ru-RU" dirty="0"/>
              <a:t>В </a:t>
            </a:r>
            <a:r>
              <a:rPr lang="en-US" dirty="0"/>
              <a:t>C# </a:t>
            </a:r>
            <a:r>
              <a:rPr lang="ru-RU" dirty="0"/>
              <a:t>хоть и не реализовано множественное наследование, но на </a:t>
            </a:r>
            <a:r>
              <a:rPr lang="ru-RU" i="1" dirty="0"/>
              <a:t>интерфейсах</a:t>
            </a:r>
            <a:r>
              <a:rPr lang="ru-RU" dirty="0"/>
              <a:t> оно есть (поскольку </a:t>
            </a:r>
            <a:r>
              <a:rPr lang="en-US" dirty="0"/>
              <a:t>interface </a:t>
            </a:r>
            <a:r>
              <a:rPr lang="ru-RU" dirty="0"/>
              <a:t>в С</a:t>
            </a:r>
            <a:r>
              <a:rPr lang="en-US" dirty="0"/>
              <a:t>#</a:t>
            </a:r>
            <a:r>
              <a:rPr lang="ru-RU" dirty="0"/>
              <a:t> - отдельный объект)</a:t>
            </a:r>
          </a:p>
          <a:p>
            <a:pPr algn="just"/>
            <a:r>
              <a:rPr lang="ru-RU" dirty="0"/>
              <a:t>То есть во множественном наследовании на примере языка </a:t>
            </a:r>
            <a:r>
              <a:rPr lang="en-US" dirty="0"/>
              <a:t>C++ </a:t>
            </a:r>
            <a:r>
              <a:rPr lang="ru-RU" dirty="0"/>
              <a:t>есть смысл остановиться на классах, которые хранят в основном </a:t>
            </a:r>
            <a:r>
              <a:rPr lang="ru-RU" i="1" dirty="0"/>
              <a:t>чисто виртуальные методы</a:t>
            </a:r>
            <a:r>
              <a:rPr lang="ru-RU" dirty="0"/>
              <a:t> с константными </a:t>
            </a:r>
            <a:r>
              <a:rPr lang="en-US" i="1" dirty="0"/>
              <a:t>static</a:t>
            </a:r>
            <a:r>
              <a:rPr lang="en-US" dirty="0"/>
              <a:t>-</a:t>
            </a:r>
            <a:r>
              <a:rPr lang="ru-RU" dirty="0"/>
              <a:t>полями и </a:t>
            </a:r>
            <a:r>
              <a:rPr lang="ru-RU" i="1" dirty="0"/>
              <a:t>виртуальным деструктором</a:t>
            </a:r>
            <a:r>
              <a:rPr lang="ru-RU" dirty="0"/>
              <a:t>. Так инструмент множественного наследования не выглядит слишком пугающим и нагромождённым</a:t>
            </a:r>
          </a:p>
        </p:txBody>
      </p:sp>
    </p:spTree>
    <p:extLst>
      <p:ext uri="{BB962C8B-B14F-4D97-AF65-F5344CB8AC3E}">
        <p14:creationId xmlns:p14="http://schemas.microsoft.com/office/powerpoint/2010/main" val="594598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B5917-0690-44D1-9A86-EAE4C46C7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734780"/>
          </a:xfrm>
        </p:spPr>
        <p:txBody>
          <a:bodyPr/>
          <a:lstStyle/>
          <a:p>
            <a:r>
              <a:rPr lang="ru-RU" dirty="0"/>
              <a:t>Множественное наследование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A18957-8D74-4500-B9D7-8F0B2889F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829" y="1084728"/>
            <a:ext cx="11470342" cy="523538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Потенциальные проблемы множественного наследования:</a:t>
            </a:r>
          </a:p>
          <a:p>
            <a:pPr algn="just"/>
            <a:r>
              <a:rPr lang="ru-RU" dirty="0"/>
              <a:t>Конфликт имён методов и полей</a:t>
            </a:r>
          </a:p>
          <a:p>
            <a:pPr algn="just"/>
            <a:r>
              <a:rPr lang="ru-RU" dirty="0"/>
              <a:t>Дублирование базовых классов (проблема ромба)</a:t>
            </a:r>
          </a:p>
          <a:p>
            <a:pPr algn="just"/>
            <a:r>
              <a:rPr lang="ru-RU" dirty="0"/>
              <a:t>Трудности с конструкторскими цепочками</a:t>
            </a:r>
          </a:p>
          <a:p>
            <a:pPr lvl="1" algn="just"/>
            <a:r>
              <a:rPr lang="ru-RU" dirty="0"/>
              <a:t>Порядок вызовов конструкторов родительских классов соответствует порядку перечисления наследования</a:t>
            </a:r>
          </a:p>
          <a:p>
            <a:pPr lvl="1" algn="just"/>
            <a:r>
              <a:rPr lang="ru-RU" dirty="0"/>
              <a:t>При </a:t>
            </a:r>
            <a:r>
              <a:rPr lang="ru-RU" i="1" dirty="0"/>
              <a:t>виртуальном</a:t>
            </a:r>
            <a:r>
              <a:rPr lang="ru-RU" dirty="0"/>
              <a:t> наследовании конструктор базового класса вызывается в самом «нижнем» классе</a:t>
            </a:r>
          </a:p>
          <a:p>
            <a:pPr lvl="1" algn="just"/>
            <a:r>
              <a:rPr lang="ru-RU" dirty="0"/>
              <a:t>Сложная взаимосвязь между классами, когда оба класса должны знать информацию друг о друге (непонятно, что вызывать первым)</a:t>
            </a:r>
          </a:p>
          <a:p>
            <a:pPr algn="just"/>
            <a:r>
              <a:rPr lang="ru-RU" dirty="0"/>
              <a:t>Неоднозначности при обращении к членам базовых классов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4090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1C1FB5-B681-43FA-AEF7-AB74D1078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62000"/>
          </a:xfrm>
        </p:spPr>
        <p:txBody>
          <a:bodyPr/>
          <a:lstStyle/>
          <a:p>
            <a:r>
              <a:rPr lang="ru-RU" dirty="0"/>
              <a:t>Множественное наследование (проблема ромба)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E41B19-8B7A-47EB-954D-D36589D5E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047" y="866400"/>
            <a:ext cx="10515600" cy="57943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x;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};</a:t>
            </a:r>
          </a:p>
          <a:p>
            <a:pPr marL="0" indent="0">
              <a:buNone/>
            </a:pP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{};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{};</a:t>
            </a:r>
          </a:p>
          <a:p>
            <a:pPr marL="0" indent="0">
              <a:buNone/>
            </a:pP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{};</a:t>
            </a:r>
          </a:p>
          <a:p>
            <a:pPr marL="0" indent="0">
              <a:buNone/>
            </a:pP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d.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::x = 1;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d.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::x = 2;</a:t>
            </a:r>
          </a:p>
          <a:p>
            <a:pPr marL="0" indent="0">
              <a:buNone/>
            </a:pP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std::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d.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::x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d.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::x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"\n"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2244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B871E6-F2CB-4CAF-8844-5CAB576B8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859"/>
            <a:ext cx="12192000" cy="860611"/>
          </a:xfrm>
        </p:spPr>
        <p:txBody>
          <a:bodyPr/>
          <a:lstStyle/>
          <a:p>
            <a:r>
              <a:rPr lang="ru-RU" dirty="0"/>
              <a:t>Множественное наследование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FF69309-E346-4F97-B034-A52FCA5F29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882588"/>
                <a:ext cx="12192000" cy="2779059"/>
              </a:xfrm>
            </p:spPr>
            <p:txBody>
              <a:bodyPr/>
              <a:lstStyle/>
              <a:p>
                <a:r>
                  <a:rPr lang="ru-RU" dirty="0"/>
                  <a:t>Без виртуального наследования:</a:t>
                </a:r>
              </a:p>
              <a:p>
                <a:pPr marL="457200" lvl="1" indent="0">
                  <a:buNone/>
                </a:pPr>
                <a:r>
                  <a:rPr lang="en-US" dirty="0"/>
                  <a:t>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B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A (</a:t>
                </a:r>
                <a:r>
                  <a:rPr lang="ru-RU" dirty="0"/>
                  <a:t>первая копия поля </a:t>
                </a:r>
                <a:r>
                  <a:rPr lang="en-US" dirty="0"/>
                  <a:t>x)</a:t>
                </a:r>
              </a:p>
              <a:p>
                <a:pPr marL="457200" lvl="1" indent="0">
                  <a:buNone/>
                </a:pPr>
                <a:r>
                  <a:rPr lang="en-US" dirty="0"/>
                  <a:t>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С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A (</a:t>
                </a:r>
                <a:r>
                  <a:rPr lang="ru-RU" dirty="0"/>
                  <a:t>вторая копия поля </a:t>
                </a:r>
                <a:r>
                  <a:rPr lang="en-US" dirty="0"/>
                  <a:t>x) </a:t>
                </a:r>
                <a:endParaRPr lang="ru-RU" dirty="0"/>
              </a:p>
              <a:p>
                <a:pPr marL="457200" lvl="1" indent="0">
                  <a:buNone/>
                </a:pPr>
                <a:r>
                  <a:rPr lang="en-US" dirty="0" err="1"/>
                  <a:t>d.B</a:t>
                </a:r>
                <a:r>
                  <a:rPr lang="en-US" dirty="0"/>
                  <a:t>::x </a:t>
                </a:r>
                <a:r>
                  <a:rPr lang="ru-RU" dirty="0"/>
                  <a:t>не то же самое, что и </a:t>
                </a:r>
                <a:r>
                  <a:rPr lang="en-US" dirty="0" err="1"/>
                  <a:t>d.C</a:t>
                </a:r>
                <a:r>
                  <a:rPr lang="en-US" dirty="0"/>
                  <a:t>::x!</a:t>
                </a:r>
              </a:p>
              <a:p>
                <a:r>
                  <a:rPr lang="ru-RU" dirty="0"/>
                  <a:t>С виртуальным наследованием:</a:t>
                </a:r>
              </a:p>
              <a:p>
                <a:pPr marL="457200" lvl="1" indent="0">
                  <a:buNone/>
                </a:pPr>
                <a:r>
                  <a:rPr lang="ru-RU" dirty="0"/>
                  <a:t>х</a:t>
                </a:r>
                <a:r>
                  <a:rPr lang="en-US" dirty="0"/>
                  <a:t> – </a:t>
                </a:r>
                <a:r>
                  <a:rPr lang="ru-RU" dirty="0"/>
                  <a:t>единственный экземпляр. Теперь </a:t>
                </a:r>
                <a:r>
                  <a:rPr lang="en-US" dirty="0" err="1"/>
                  <a:t>d.B</a:t>
                </a:r>
                <a:r>
                  <a:rPr lang="en-US" dirty="0"/>
                  <a:t>::x = </a:t>
                </a:r>
                <a:r>
                  <a:rPr lang="en-US" dirty="0" err="1"/>
                  <a:t>d.C</a:t>
                </a:r>
                <a:r>
                  <a:rPr lang="en-US" dirty="0"/>
                  <a:t>::x</a:t>
                </a:r>
                <a:endParaRPr lang="ru-RU" dirty="0"/>
              </a:p>
              <a:p>
                <a:pPr marL="457200" lvl="1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FF69309-E346-4F97-B034-A52FCA5F29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882588"/>
                <a:ext cx="12192000" cy="2779059"/>
              </a:xfrm>
              <a:blipFill>
                <a:blip r:embed="rId2"/>
                <a:stretch>
                  <a:fillRect l="-900" t="-37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2137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0BB117-E82C-45D7-9FA6-EA49F58E0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788569"/>
          </a:xfrm>
        </p:spPr>
        <p:txBody>
          <a:bodyPr/>
          <a:lstStyle/>
          <a:p>
            <a:r>
              <a:rPr lang="ru-RU" dirty="0"/>
              <a:t>Продолжение задачи с фигурами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7F2468-B563-456D-8D08-50F753283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49505"/>
            <a:ext cx="12192000" cy="3478307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Имеем: </a:t>
            </a:r>
          </a:p>
          <a:p>
            <a:pPr algn="just"/>
            <a:r>
              <a:rPr lang="ru-RU" dirty="0"/>
              <a:t>Абстрактный класс </a:t>
            </a:r>
            <a:r>
              <a:rPr lang="en-US" i="1" dirty="0"/>
              <a:t>Shape </a:t>
            </a:r>
            <a:r>
              <a:rPr lang="en-US" dirty="0"/>
              <a:t>(</a:t>
            </a:r>
            <a:r>
              <a:rPr lang="ru-RU" dirty="0"/>
              <a:t>фигура</a:t>
            </a:r>
            <a:r>
              <a:rPr lang="en-US" dirty="0"/>
              <a:t>)</a:t>
            </a:r>
          </a:p>
          <a:p>
            <a:pPr lvl="1" algn="just"/>
            <a:r>
              <a:rPr lang="ru-RU" dirty="0"/>
              <a:t>Виртуальный метод «вычисление площади» (</a:t>
            </a:r>
            <a:r>
              <a:rPr lang="en-US" i="1" dirty="0" err="1"/>
              <a:t>areaCalc</a:t>
            </a:r>
            <a:r>
              <a:rPr lang="ru-RU" dirty="0"/>
              <a:t>)</a:t>
            </a:r>
            <a:endParaRPr lang="en-US" dirty="0"/>
          </a:p>
          <a:p>
            <a:pPr lvl="1" algn="just"/>
            <a:r>
              <a:rPr lang="ru-RU" dirty="0"/>
              <a:t>Виртуальный метод «вывести фигуру на экран» </a:t>
            </a:r>
            <a:r>
              <a:rPr lang="ru-RU" i="1" dirty="0"/>
              <a:t>(</a:t>
            </a:r>
            <a:r>
              <a:rPr lang="en-US" i="1" dirty="0"/>
              <a:t>print</a:t>
            </a:r>
            <a:r>
              <a:rPr lang="ru-RU" i="1" dirty="0"/>
              <a:t>)</a:t>
            </a:r>
            <a:endParaRPr lang="en-US" dirty="0"/>
          </a:p>
          <a:p>
            <a:pPr algn="just"/>
            <a:r>
              <a:rPr lang="ru-RU" dirty="0"/>
              <a:t>Класс </a:t>
            </a:r>
            <a:r>
              <a:rPr lang="en-US" i="1" dirty="0"/>
              <a:t>Circle</a:t>
            </a:r>
            <a:r>
              <a:rPr lang="en-US" dirty="0"/>
              <a:t> </a:t>
            </a:r>
            <a:r>
              <a:rPr lang="ru-RU" dirty="0"/>
              <a:t>	</a:t>
            </a:r>
            <a:r>
              <a:rPr lang="en-US" dirty="0"/>
              <a:t>(</a:t>
            </a:r>
            <a:r>
              <a:rPr lang="ru-RU" dirty="0"/>
              <a:t>окружность</a:t>
            </a:r>
            <a:r>
              <a:rPr lang="en-US" dirty="0"/>
              <a:t>)</a:t>
            </a:r>
            <a:endParaRPr lang="ru-RU" dirty="0"/>
          </a:p>
          <a:p>
            <a:pPr algn="just"/>
            <a:r>
              <a:rPr lang="ru-RU" dirty="0"/>
              <a:t>Класс </a:t>
            </a:r>
            <a:r>
              <a:rPr lang="en-US" i="1" dirty="0"/>
              <a:t>Rectangle</a:t>
            </a:r>
            <a:r>
              <a:rPr lang="en-US" dirty="0"/>
              <a:t> </a:t>
            </a:r>
            <a:r>
              <a:rPr lang="ru-RU" dirty="0"/>
              <a:t>	</a:t>
            </a:r>
            <a:r>
              <a:rPr lang="en-US" dirty="0"/>
              <a:t>(</a:t>
            </a:r>
            <a:r>
              <a:rPr lang="ru-RU" dirty="0"/>
              <a:t>прямоугольник</a:t>
            </a:r>
            <a:r>
              <a:rPr lang="en-US" dirty="0"/>
              <a:t>)</a:t>
            </a:r>
            <a:endParaRPr lang="ru-RU" dirty="0"/>
          </a:p>
          <a:p>
            <a:pPr algn="just"/>
            <a:r>
              <a:rPr lang="ru-RU" dirty="0"/>
              <a:t>Класс</a:t>
            </a:r>
            <a:r>
              <a:rPr lang="ru-RU" i="1" dirty="0"/>
              <a:t> </a:t>
            </a:r>
            <a:r>
              <a:rPr lang="en-US" i="1" dirty="0"/>
              <a:t>Triangle</a:t>
            </a:r>
            <a:r>
              <a:rPr lang="en-US" dirty="0"/>
              <a:t> </a:t>
            </a:r>
            <a:r>
              <a:rPr lang="ru-RU" dirty="0"/>
              <a:t>	(треугольник</a:t>
            </a:r>
            <a:r>
              <a:rPr lang="en-US" dirty="0"/>
              <a:t>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699064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3ED7C4-DD1E-4A27-9CD9-275CB09FB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24753"/>
          </a:xfrm>
        </p:spPr>
        <p:txBody>
          <a:bodyPr/>
          <a:lstStyle/>
          <a:p>
            <a:r>
              <a:rPr lang="ru-RU" dirty="0"/>
              <a:t>«Корректировки  сверху»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125A930-1702-4853-A58F-00E8B01104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824754"/>
                <a:ext cx="12192000" cy="6033246"/>
              </a:xfrm>
            </p:spPr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ru-RU" dirty="0"/>
                  <a:t>Представим ситуацию, что начальство решило изменить подход к созданию фигур и теперь необходимо использовать дополнительный класс «Точка» </a:t>
                </a:r>
                <a:r>
                  <a:rPr lang="ru-RU" i="1" dirty="0"/>
                  <a:t>(</a:t>
                </a:r>
                <a:r>
                  <a:rPr lang="en-US" i="1" dirty="0"/>
                  <a:t>Point</a:t>
                </a:r>
                <a:r>
                  <a:rPr lang="ru-RU" i="1" dirty="0"/>
                  <a:t>)</a:t>
                </a:r>
                <a:r>
                  <a:rPr lang="en-US" i="1" dirty="0"/>
                  <a:t>. </a:t>
                </a:r>
                <a:endParaRPr lang="ru-RU" i="1" dirty="0"/>
              </a:p>
              <a:p>
                <a:pPr marL="0" indent="0" algn="just">
                  <a:buNone/>
                </a:pPr>
                <a:r>
                  <a:rPr lang="ru-RU" dirty="0"/>
                  <a:t>Ваша задача: добавить класс точка для последующего интегрирования в существующие фигуры</a:t>
                </a:r>
              </a:p>
              <a:p>
                <a:pPr marL="0" indent="0" algn="just">
                  <a:buNone/>
                </a:pPr>
                <a:r>
                  <a:rPr lang="ru-RU" dirty="0"/>
                  <a:t>Поля:</a:t>
                </a:r>
              </a:p>
              <a:p>
                <a:pPr algn="just"/>
                <a:r>
                  <a:rPr lang="en-US" dirty="0"/>
                  <a:t>x, y – </a:t>
                </a:r>
                <a:r>
                  <a:rPr lang="ru-RU" dirty="0"/>
                  <a:t>число с плавающей точкой (инкапсулированы)</a:t>
                </a:r>
              </a:p>
              <a:p>
                <a:pPr marL="0" indent="0" algn="just">
                  <a:buNone/>
                </a:pPr>
                <a:r>
                  <a:rPr lang="ru-RU" dirty="0"/>
                  <a:t>Методы:</a:t>
                </a:r>
              </a:p>
              <a:p>
                <a:pPr algn="just"/>
                <a:r>
                  <a:rPr lang="ru-RU" dirty="0"/>
                  <a:t>конструктор</a:t>
                </a:r>
                <a:r>
                  <a:rPr lang="en-US" dirty="0"/>
                  <a:t> (</a:t>
                </a:r>
                <a:r>
                  <a:rPr lang="en-US" b="1" dirty="0"/>
                  <a:t>explicit</a:t>
                </a:r>
                <a:r>
                  <a:rPr lang="en-US" dirty="0"/>
                  <a:t>)</a:t>
                </a:r>
                <a:r>
                  <a:rPr lang="ru-RU" dirty="0"/>
                  <a:t> (по умолчанию, значения установить (0,0))</a:t>
                </a:r>
              </a:p>
              <a:p>
                <a:pPr algn="just"/>
                <a:r>
                  <a:rPr lang="ru-RU" dirty="0"/>
                  <a:t>изменить значения точки с помощью метода </a:t>
                </a:r>
                <a:r>
                  <a:rPr lang="en-US" i="1" dirty="0" err="1"/>
                  <a:t>setCoords</a:t>
                </a:r>
                <a:r>
                  <a:rPr lang="en-US" i="1" dirty="0"/>
                  <a:t>(double, double)</a:t>
                </a:r>
              </a:p>
              <a:p>
                <a:pPr algn="just"/>
                <a:r>
                  <a:rPr lang="ru-RU" dirty="0"/>
                  <a:t>геттеры</a:t>
                </a:r>
              </a:p>
              <a:p>
                <a:pPr algn="just"/>
                <a:r>
                  <a:rPr lang="ru-RU" dirty="0"/>
                  <a:t>перегрузить оператор вывода в поток и </a:t>
                </a:r>
                <a:r>
                  <a:rPr lang="ru-RU" dirty="0" err="1"/>
                  <a:t>опертаор</a:t>
                </a:r>
                <a:r>
                  <a:rPr lang="ru-RU" dirty="0"/>
                  <a:t> сравнения</a:t>
                </a:r>
                <a:endParaRPr lang="en-US" dirty="0"/>
              </a:p>
              <a:p>
                <a:pPr algn="just"/>
                <a:r>
                  <a:rPr lang="ru-RU" dirty="0"/>
                  <a:t>вычислить расстояние между точками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ru-RU" dirty="0"/>
                  <a:t>)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125A930-1702-4853-A58F-00E8B01104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24754"/>
                <a:ext cx="12192000" cy="6033246"/>
              </a:xfrm>
              <a:blipFill>
                <a:blip r:embed="rId2"/>
                <a:stretch>
                  <a:fillRect l="-1000" t="-2222" r="-1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0558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532C1C-5902-4F77-84B9-F50D3576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42682"/>
          </a:xfrm>
        </p:spPr>
        <p:txBody>
          <a:bodyPr/>
          <a:lstStyle/>
          <a:p>
            <a:r>
              <a:rPr lang="ru-RU" dirty="0"/>
              <a:t>Вернёмся к классу </a:t>
            </a:r>
            <a:r>
              <a:rPr lang="en-US" i="1" dirty="0"/>
              <a:t>Shape</a:t>
            </a:r>
            <a:endParaRPr lang="ru-RU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508A1E-F8FA-48F1-9A00-CC150000B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42682"/>
            <a:ext cx="12192000" cy="6015317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Класс </a:t>
            </a:r>
            <a:r>
              <a:rPr lang="en-US" i="1" dirty="0"/>
              <a:t>Shape</a:t>
            </a:r>
            <a:r>
              <a:rPr lang="en-US" dirty="0"/>
              <a:t> </a:t>
            </a:r>
            <a:r>
              <a:rPr lang="ru-RU" dirty="0"/>
              <a:t>будет являться </a:t>
            </a:r>
            <a:r>
              <a:rPr lang="ru-RU" b="1" dirty="0"/>
              <a:t>абстрактным</a:t>
            </a:r>
            <a:r>
              <a:rPr lang="ru-RU" dirty="0"/>
              <a:t>. Класс должен содержать:</a:t>
            </a:r>
          </a:p>
          <a:p>
            <a:pPr algn="just"/>
            <a:r>
              <a:rPr lang="ru-RU" dirty="0"/>
              <a:t>Инкапсулированное</a:t>
            </a:r>
            <a:r>
              <a:rPr lang="en-US" dirty="0"/>
              <a:t> (?)</a:t>
            </a:r>
            <a:r>
              <a:rPr lang="ru-RU" dirty="0"/>
              <a:t> поле «точка» </a:t>
            </a:r>
            <a:r>
              <a:rPr lang="en-US" dirty="0"/>
              <a:t>- </a:t>
            </a:r>
            <a:r>
              <a:rPr lang="ru-RU" dirty="0"/>
              <a:t>центр тяжести (</a:t>
            </a:r>
            <a:r>
              <a:rPr lang="en-US" i="1" dirty="0" err="1"/>
              <a:t>gravity_center</a:t>
            </a:r>
            <a:r>
              <a:rPr lang="en-US" i="1" dirty="0"/>
              <a:t>_</a:t>
            </a:r>
            <a:r>
              <a:rPr lang="ru-RU" dirty="0"/>
              <a:t>)</a:t>
            </a:r>
            <a:endParaRPr lang="en-US" dirty="0"/>
          </a:p>
          <a:p>
            <a:pPr algn="just"/>
            <a:r>
              <a:rPr lang="ru-RU" dirty="0"/>
              <a:t>Конструктор</a:t>
            </a:r>
            <a:endParaRPr lang="en-US" dirty="0"/>
          </a:p>
          <a:p>
            <a:pPr algn="just"/>
            <a:r>
              <a:rPr lang="ru-RU" dirty="0"/>
              <a:t>Метод вычисления площади фигуры (чисто виртуальный)</a:t>
            </a:r>
          </a:p>
          <a:p>
            <a:pPr algn="just"/>
            <a:r>
              <a:rPr lang="ru-RU" dirty="0"/>
              <a:t>Метод передвижения фигуры (с реализацией внутри класса)</a:t>
            </a:r>
            <a:endParaRPr lang="en-US" dirty="0"/>
          </a:p>
          <a:p>
            <a:pPr algn="just"/>
            <a:r>
              <a:rPr lang="ru-RU" dirty="0"/>
              <a:t>Виртуальный деструктор – по умолчанию</a:t>
            </a:r>
            <a:r>
              <a:rPr lang="en-US" dirty="0"/>
              <a:t> </a:t>
            </a:r>
            <a:r>
              <a:rPr lang="ru-RU" dirty="0"/>
              <a:t>(почему это важно?)</a:t>
            </a:r>
          </a:p>
          <a:p>
            <a:pPr algn="just"/>
            <a:endParaRPr lang="ru-RU" dirty="0"/>
          </a:p>
          <a:p>
            <a:pPr marL="0" indent="0" algn="just">
              <a:buNone/>
            </a:pPr>
            <a:r>
              <a:rPr lang="ru-RU" dirty="0"/>
              <a:t>Поля фигур:</a:t>
            </a:r>
          </a:p>
          <a:p>
            <a:pPr algn="just"/>
            <a:r>
              <a:rPr lang="ru-RU" dirty="0"/>
              <a:t>Окружность: точка + радиус</a:t>
            </a:r>
          </a:p>
          <a:p>
            <a:pPr algn="just"/>
            <a:r>
              <a:rPr lang="ru-RU" dirty="0"/>
              <a:t>Прямоугольник: две точки (диагонально противоположные)</a:t>
            </a:r>
          </a:p>
          <a:p>
            <a:pPr algn="just"/>
            <a:r>
              <a:rPr lang="ru-RU" dirty="0"/>
              <a:t>Треугольник: три точки</a:t>
            </a:r>
          </a:p>
          <a:p>
            <a:pPr algn="just"/>
            <a:endParaRPr lang="ru-RU" dirty="0"/>
          </a:p>
          <a:p>
            <a:pPr lvl="1"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0058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16809D-D317-493D-8D6F-2956D2C1A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860286"/>
          </a:xfrm>
        </p:spPr>
        <p:txBody>
          <a:bodyPr/>
          <a:lstStyle/>
          <a:p>
            <a:r>
              <a:rPr lang="ru-RU" dirty="0"/>
              <a:t>Более конкретные фигуры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AD12CF6-61EC-4C49-A35E-653002983D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744072"/>
                <a:ext cx="12192000" cy="6095672"/>
              </a:xfrm>
            </p:spPr>
            <p:txBody>
              <a:bodyPr/>
              <a:lstStyle/>
              <a:p>
                <a:pPr algn="just"/>
                <a:r>
                  <a:rPr lang="ru-RU" sz="2400" dirty="0"/>
                  <a:t>Реализуйте конструкторы каждой из фигур. Необходимо инициализировать поле класса </a:t>
                </a:r>
                <a:r>
                  <a:rPr lang="en-US" sz="2400" dirty="0"/>
                  <a:t>Shape</a:t>
                </a:r>
                <a:r>
                  <a:rPr lang="ru-RU" sz="2400" dirty="0"/>
                  <a:t> (пусть пока будет «нуль»)</a:t>
                </a:r>
                <a:r>
                  <a:rPr lang="en-US" sz="2400" dirty="0"/>
                  <a:t>, </a:t>
                </a:r>
                <a:r>
                  <a:rPr lang="ru-RU" sz="2400" dirty="0"/>
                  <a:t>вызывая конструктор. Не забудьте проверять корректность введённых данных, выбрасывая исключение!</a:t>
                </a:r>
                <a:endParaRPr lang="en-US" sz="2400" dirty="0"/>
              </a:p>
              <a:p>
                <a:pPr lvl="1" algn="just"/>
                <a:r>
                  <a:rPr lang="ru-RU" dirty="0"/>
                  <a:t>Окружность: </a:t>
                </a:r>
                <a:r>
                  <a:rPr lang="en-US" dirty="0"/>
                  <a:t>r &gt; 0</a:t>
                </a:r>
              </a:p>
              <a:p>
                <a:pPr lvl="1" algn="just"/>
                <a:r>
                  <a:rPr lang="ru-RU" dirty="0"/>
                  <a:t>Прямоугольник: точка_</a:t>
                </a:r>
                <a:r>
                  <a:rPr lang="en-US" dirty="0"/>
                  <a:t>1 </a:t>
                </a:r>
                <a:r>
                  <a:rPr lang="ru-RU" dirty="0"/>
                  <a:t>!</a:t>
                </a:r>
                <a:r>
                  <a:rPr lang="en-US" dirty="0"/>
                  <a:t>= </a:t>
                </a:r>
                <a:r>
                  <a:rPr lang="ru-RU" dirty="0"/>
                  <a:t>точка_</a:t>
                </a:r>
                <a:r>
                  <a:rPr lang="en-US" dirty="0"/>
                  <a:t>2</a:t>
                </a:r>
              </a:p>
              <a:p>
                <a:pPr lvl="1" algn="just"/>
                <a:r>
                  <a:rPr lang="ru-RU" dirty="0"/>
                  <a:t>Треугольник: неравенство треугольника</a:t>
                </a:r>
              </a:p>
              <a:p>
                <a:pPr marL="457200" lvl="1" indent="0" algn="just">
                  <a:buNone/>
                </a:pPr>
                <a:r>
                  <a:rPr lang="ru-RU" dirty="0"/>
                  <a:t>Подсказка: любая сумма двух сторон должна быть больше третьей</a:t>
                </a:r>
              </a:p>
              <a:p>
                <a:pPr algn="just"/>
                <a:r>
                  <a:rPr lang="ru-RU" sz="2400" dirty="0"/>
                  <a:t>Реализуйте метод </a:t>
                </a:r>
                <a:r>
                  <a:rPr lang="en-US" sz="2400" i="1" dirty="0" err="1"/>
                  <a:t>calcArea</a:t>
                </a:r>
                <a:r>
                  <a:rPr lang="en-US" sz="2400" dirty="0"/>
                  <a:t> </a:t>
                </a:r>
                <a:r>
                  <a:rPr lang="ru-RU" sz="2400" dirty="0"/>
                  <a:t>для каждого из класса фигур</a:t>
                </a:r>
              </a:p>
              <a:p>
                <a:pPr marL="457200" lvl="1" indent="0" algn="just">
                  <a:buNone/>
                </a:pPr>
                <a:r>
                  <a:rPr lang="ru-RU" dirty="0"/>
                  <a:t>Подсказка:</a:t>
                </a:r>
              </a:p>
              <a:p>
                <a:pPr lvl="1" algn="just"/>
                <a:r>
                  <a:rPr lang="ru-RU" sz="2800" dirty="0"/>
                  <a:t>Окружность: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3200" dirty="0"/>
              </a:p>
              <a:p>
                <a:pPr lvl="1" algn="just"/>
                <a:r>
                  <a:rPr lang="ru-RU" sz="2800" dirty="0"/>
                  <a:t>Прямоугольник: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∙</m:t>
                        </m:r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sz="3200" dirty="0"/>
              </a:p>
              <a:p>
                <a:pPr lvl="1" algn="just"/>
                <a:r>
                  <a:rPr lang="ru-RU" sz="2800" dirty="0"/>
                  <a:t>Треугольник: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endChr m:val="|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sz="2800" b="0" dirty="0"/>
              </a:p>
              <a:p>
                <a:pPr marL="457200" lvl="1" indent="0" algn="just">
                  <a:buNone/>
                </a:pPr>
                <a:r>
                  <a:rPr lang="ru-RU" dirty="0"/>
                  <a:t>модуль – </a:t>
                </a:r>
                <a:r>
                  <a:rPr lang="en-US" dirty="0"/>
                  <a:t>“abs” </a:t>
                </a:r>
                <a:r>
                  <a:rPr lang="ru-RU" dirty="0"/>
                  <a:t>из </a:t>
                </a:r>
                <a:r>
                  <a:rPr lang="en-US" dirty="0"/>
                  <a:t>&lt;</a:t>
                </a:r>
                <a:r>
                  <a:rPr lang="en-US" i="1" dirty="0" err="1"/>
                  <a:t>cmath</a:t>
                </a:r>
                <a:r>
                  <a:rPr lang="en-US" dirty="0"/>
                  <a:t>&gt;</a:t>
                </a:r>
                <a:endParaRPr lang="ru-RU" sz="2000" dirty="0"/>
              </a:p>
              <a:p>
                <a:pPr algn="just"/>
                <a:r>
                  <a:rPr lang="ru-RU" sz="2400" dirty="0"/>
                  <a:t>Перегрузите оператор вывода в поток и оператор сравнения двух фигур</a:t>
                </a:r>
              </a:p>
              <a:p>
                <a:pPr marL="457200" lvl="1" indent="0" algn="just">
                  <a:buNone/>
                </a:pPr>
                <a:endParaRPr lang="en-US" sz="28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AD12CF6-61EC-4C49-A35E-653002983D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744072"/>
                <a:ext cx="12192000" cy="6095672"/>
              </a:xfrm>
              <a:blipFill>
                <a:blip r:embed="rId2"/>
                <a:stretch>
                  <a:fillRect l="-650" t="-1400" r="-750" b="-13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1201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856</Words>
  <Application>Microsoft Office PowerPoint</Application>
  <PresentationFormat>Широкоэкранный</PresentationFormat>
  <Paragraphs>131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Cascadia Mono</vt:lpstr>
      <vt:lpstr>Тема Office</vt:lpstr>
      <vt:lpstr>ООП. Практика</vt:lpstr>
      <vt:lpstr>Таблица модификаторов доступа при наследовании</vt:lpstr>
      <vt:lpstr>Множественное наследование</vt:lpstr>
      <vt:lpstr>Множественное наследование</vt:lpstr>
      <vt:lpstr>Множественное наследование</vt:lpstr>
      <vt:lpstr>Множественное наследование (проблема ромба)</vt:lpstr>
      <vt:lpstr>Множественное наследование</vt:lpstr>
      <vt:lpstr>Продолжение задачи с фигурами</vt:lpstr>
      <vt:lpstr>«Корректировки  сверху»</vt:lpstr>
      <vt:lpstr>Вернёмся к классу Shape</vt:lpstr>
      <vt:lpstr>Более конкретные фигуры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ООП. Практика</dc:title>
  <dc:creator>varitch.rodion.2@gmail.com</dc:creator>
  <cp:lastModifiedBy>varitch.rodion.2@gmail.com</cp:lastModifiedBy>
  <cp:revision>111</cp:revision>
  <dcterms:created xsi:type="dcterms:W3CDTF">2025-12-01T16:31:23Z</dcterms:created>
  <dcterms:modified xsi:type="dcterms:W3CDTF">2025-12-02T18:42:14Z</dcterms:modified>
</cp:coreProperties>
</file>