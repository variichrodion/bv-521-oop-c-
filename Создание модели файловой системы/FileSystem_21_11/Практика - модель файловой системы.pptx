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116CD-EA6E-4A22-B176-B0740355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FD85AB-C3B0-4F80-90CD-8A9F07B6D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948C0E-F66C-4E44-9A50-DB965B7E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32824E-9741-4A44-ADB0-94747027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9CB7F-F527-4594-BDB0-24F8A0F7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79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D2260-7F31-40E1-AFAA-1E734D2F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BF4C1-7648-4F0C-A6F7-D85D23BF2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375B22-0426-46EE-A4D8-BF53A708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3F58FB-8043-418C-A93E-90923DF0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B5B942-E2A0-48CF-8689-ADE43E1F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63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B3F24-AB88-4BA7-AB8D-F71FF087E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2BA714-A5FE-45B5-A1CB-815E4C0E9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9BA87-209A-4899-9951-3D1D712D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FB898-D6B9-4D93-A6B4-C19C5172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136E9-F12B-46C2-9FCD-DEADBA36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61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98AF3-74B3-49E7-8447-0E896CFB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6B232D-32F8-4920-8C19-D7C83B10C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F944F1-7767-40EA-BD4F-31C93311A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15AB1B-CA53-4EC6-9B54-BCC208043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0731D8-7292-4E5A-853C-DA817098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F1E4A-8883-4DBD-9BBA-0CDBBF98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71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BF4AA-9FD1-49BF-B64A-1F754ADD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BD1061-3B6C-4CD3-8109-16D0AD410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740EE2-5F50-440F-9D69-DAF496550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7C513E-A1BC-4FB0-AE84-205164AB5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AD9253-1D0B-4AB3-926D-774A4F3CC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F553D2-2303-465F-A07C-8C6CDD13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A11569-891E-4C0D-A3A2-DC97277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C46D77-6E8A-4638-AF9F-98DAAC64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81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F8402-B9DB-4E45-9070-FA9DB12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843F9E-3D6F-4B31-855B-29E3C61D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081274-0351-4702-98ED-06D4488D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5AA58C-FB70-40B6-91F5-9B2C23D2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6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72824D-AC1B-4C6D-B722-F9BC2940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0FDDC03-E040-4FD3-A535-CE3BF00B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3B4430-E7DA-4B8B-8E79-04D34B4B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8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EAB67-D9DB-4BD2-9510-9FB7DBF8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07502B-20A1-4A0D-9D8C-7A9557821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C45208-17D0-478E-92A7-D09382FB9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826760-B849-471E-BCE7-41AFFFBE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AA2C1D-3C5D-400F-9D7B-15454864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C1CF25-4B37-42BA-B6B3-6CE1C18D6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1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A2DC5-04A4-4EF6-A4AF-C4EF19AA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98EDE9E-5048-49D6-A67A-C32A17BFA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DF09C4-33B9-49E5-A834-B73FFF157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473B0B-921C-4467-87C9-E71E6928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B61B4-5DB4-43E6-AB2B-944AAEF9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CDACE9-27A3-499F-AAA1-59EEF3A2C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54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BDDF9-2898-4745-AE5B-10C2E8B7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CE88FD-DD91-4DB2-8BA7-0CA5BB73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9DD4C-E8B2-496B-8ABC-7CF25508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E0BC1B-B51E-4843-8344-5649BA5A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98A444-E0EE-492E-B8BC-2B86B54C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8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6316E7-0248-4FD1-8929-5B0DA4710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3E4CCF-F370-45DF-9CD9-E65A17A50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82FB62-6C54-4FFD-BC55-9793B34F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CFD15-6810-4EDB-A269-629CD7B1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0DA85-80EC-46C5-8636-91744EF0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03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2213D-9EE0-4C29-9DA8-85C0C4C5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CD4DDE-2FA6-46FD-88CD-B049EDF4B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C9915-744D-404E-8009-8ED91D606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B0DF4-28FD-4B81-8200-365FBF3CC4B0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E0A6B2-A1A7-416F-B595-E78745033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EF790-FE46-49C1-8F38-2960D9561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AE6FF-A37E-4E80-903C-A2438D5374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0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iichrodion/BV-521-OOP-C-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iichrodion/BV-521-OOP-C-/tree/main/%D0%A1%D0%BE%D0%B7%D0%B4%D0%B0%D0%BD%D0%B8%D0%B5%20%D0%BC%D0%BE%D0%B4%D0%B5%D0%BB%D0%B8%20%D1%84%D0%B0%D0%B9%D0%BB%D0%BE%D0%B2%D0%BE%D0%B9%20%D1%81%D0%B8%D1%81%D1%82%D0%B5%D0%BC%D1%8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C101C-A409-4C2E-BC52-A556C88D5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22363"/>
            <a:ext cx="10506635" cy="2387600"/>
          </a:xfrm>
        </p:spPr>
        <p:txBody>
          <a:bodyPr>
            <a:normAutofit/>
          </a:bodyPr>
          <a:lstStyle/>
          <a:p>
            <a:pPr algn="r"/>
            <a:r>
              <a:rPr lang="ru-RU" sz="4800" dirty="0"/>
              <a:t>Практика</a:t>
            </a:r>
            <a:br>
              <a:rPr lang="ru-RU" sz="4800" dirty="0"/>
            </a:br>
            <a:r>
              <a:rPr lang="ru-RU" sz="4800" dirty="0"/>
              <a:t>Создание модели файловой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6EE7D3-82BF-43A6-8371-828AD612D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10201835" cy="2529821"/>
          </a:xfrm>
        </p:spPr>
        <p:txBody>
          <a:bodyPr/>
          <a:lstStyle/>
          <a:p>
            <a:pPr algn="r"/>
            <a:endParaRPr lang="en-US" dirty="0"/>
          </a:p>
          <a:p>
            <a:pPr algn="r"/>
            <a:endParaRPr lang="ru-RU" dirty="0"/>
          </a:p>
          <a:p>
            <a:pPr algn="r"/>
            <a:r>
              <a:rPr lang="ru-RU" dirty="0"/>
              <a:t>13.11.2025</a:t>
            </a:r>
            <a:endParaRPr lang="en-US" dirty="0"/>
          </a:p>
          <a:p>
            <a:pPr algn="r"/>
            <a:r>
              <a:rPr lang="ru-RU" dirty="0"/>
              <a:t>Ссылка на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ru-RU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*клик*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13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1F2C3-DD94-42F5-B8C7-AE440529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146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405EE-AC3B-4D9B-B0A8-D0384CD37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65575"/>
          </a:xfrm>
        </p:spPr>
        <p:txBody>
          <a:bodyPr/>
          <a:lstStyle/>
          <a:p>
            <a:pPr algn="just"/>
            <a:r>
              <a:rPr lang="ru-RU" dirty="0"/>
              <a:t>Создать структуру, представляющую файлы и папки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Вопросы</a:t>
            </a:r>
          </a:p>
          <a:p>
            <a:pPr algn="just"/>
            <a:r>
              <a:rPr lang="ru-RU" dirty="0"/>
              <a:t>Какие классы будут реализованы?</a:t>
            </a:r>
          </a:p>
          <a:p>
            <a:pPr algn="just"/>
            <a:r>
              <a:rPr lang="ru-RU" dirty="0"/>
              <a:t>Какое отношение будет организовано?</a:t>
            </a:r>
          </a:p>
        </p:txBody>
      </p:sp>
    </p:spTree>
    <p:extLst>
      <p:ext uri="{BB962C8B-B14F-4D97-AF65-F5344CB8AC3E}">
        <p14:creationId xmlns:p14="http://schemas.microsoft.com/office/powerpoint/2010/main" val="307265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30C37-6818-4959-A428-2D45733E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D58EF-42EB-4686-922D-51BDCAF5E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Для модели нашей будущей файловой системы реализуем классы «Файл» и «Директория».  Данные классы обладают общими свойствами и действиями:</a:t>
            </a:r>
          </a:p>
          <a:p>
            <a:pPr algn="just"/>
            <a:r>
              <a:rPr lang="ru-RU" dirty="0"/>
              <a:t>Имеют название</a:t>
            </a:r>
          </a:p>
          <a:p>
            <a:pPr algn="just"/>
            <a:r>
              <a:rPr lang="ru-RU" dirty="0"/>
              <a:t>Имеют размер</a:t>
            </a:r>
            <a:r>
              <a:rPr lang="en-US" dirty="0"/>
              <a:t> (</a:t>
            </a:r>
            <a:r>
              <a:rPr lang="ru-RU" dirty="0"/>
              <a:t>папка имеет размер в зависимости от вложенных в неё файлов – по сути, сумма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ru-RU" dirty="0"/>
              <a:t>Могут отображать информацию о себе (название, размер)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Таким образом, если у нас классы имеют общие признаки и поведение, есть смысл создать </a:t>
            </a:r>
            <a:r>
              <a:rPr lang="ru-RU" i="1" dirty="0"/>
              <a:t>абстрактный </a:t>
            </a:r>
            <a:r>
              <a:rPr lang="ru-RU" dirty="0"/>
              <a:t>класс «Элемент файловой системы»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18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53F86-0C19-4899-A64D-67F21FB1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2356"/>
          </a:xfrm>
        </p:spPr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93B07-A358-4279-98EE-C45D82A9A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776"/>
            <a:ext cx="10515600" cy="251908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Классы, которые будут реализованы:</a:t>
            </a:r>
            <a:endParaRPr lang="en-US" dirty="0"/>
          </a:p>
          <a:p>
            <a:pPr algn="just"/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dirty="0"/>
              <a:t> – </a:t>
            </a:r>
            <a:r>
              <a:rPr lang="ru-RU" dirty="0"/>
              <a:t>абстрактный класс: родительский класс для файлов и папок (элемент файловой системы)</a:t>
            </a:r>
          </a:p>
          <a:p>
            <a:pPr lvl="1" algn="just"/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sz="3200" dirty="0"/>
              <a:t> </a:t>
            </a:r>
            <a:r>
              <a:rPr lang="en-US" sz="2800" dirty="0"/>
              <a:t>– </a:t>
            </a:r>
            <a:r>
              <a:rPr lang="ru-RU" sz="2800" dirty="0"/>
              <a:t>класс «Файл»</a:t>
            </a:r>
          </a:p>
          <a:p>
            <a:pPr lvl="1" algn="just"/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Folder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sz="3200" dirty="0"/>
              <a:t> </a:t>
            </a:r>
            <a:r>
              <a:rPr lang="en-US" sz="2800" dirty="0"/>
              <a:t>– </a:t>
            </a:r>
            <a:r>
              <a:rPr lang="ru-RU" sz="2800" dirty="0"/>
              <a:t>класс «Папка»</a:t>
            </a:r>
          </a:p>
          <a:p>
            <a:pPr lvl="1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68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20DD9-DEC9-4160-B67D-6F9F8FA8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UML-</a:t>
            </a:r>
            <a:r>
              <a:rPr lang="ru-RU" dirty="0"/>
              <a:t>диаграмма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C0DF480-1F40-4378-837A-DB4E4DA59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59" y="1171387"/>
            <a:ext cx="6902823" cy="532148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5022C3-F214-4142-AD05-10DED56D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94" y="1073064"/>
            <a:ext cx="7216588" cy="54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9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AFE39-3F9A-4453-83B9-A5972737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en-US" dirty="0"/>
              <a:t>UML-</a:t>
            </a:r>
            <a:r>
              <a:rPr lang="ru-RU" dirty="0"/>
              <a:t>диаграмма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EAB92-A375-4F55-9AF0-D285BC7B8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376"/>
            <a:ext cx="10515600" cy="372035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Пояснения:</a:t>
            </a:r>
          </a:p>
          <a:p>
            <a:r>
              <a:rPr lang="en-US" sz="2400" dirty="0"/>
              <a:t>UML – unified modeling language (</a:t>
            </a:r>
            <a:r>
              <a:rPr lang="ru-RU" sz="2400" dirty="0"/>
              <a:t>унифицированный язык моделирования</a:t>
            </a:r>
            <a:r>
              <a:rPr lang="en-US" sz="2400" dirty="0"/>
              <a:t>)</a:t>
            </a:r>
            <a:endParaRPr lang="ru-RU" sz="2400" dirty="0"/>
          </a:p>
          <a:p>
            <a:r>
              <a:rPr lang="ru-RU" dirty="0"/>
              <a:t>                    </a:t>
            </a:r>
            <a:r>
              <a:rPr lang="ru-RU" sz="2400" dirty="0"/>
              <a:t>наследование</a:t>
            </a:r>
            <a:endParaRPr lang="ru-RU" dirty="0"/>
          </a:p>
          <a:p>
            <a:r>
              <a:rPr lang="ru-RU" dirty="0"/>
              <a:t>                    </a:t>
            </a:r>
            <a:r>
              <a:rPr lang="ru-RU" sz="2400" dirty="0"/>
              <a:t>композиция (при удалении папки уничтожаются все внутренние элементы)</a:t>
            </a:r>
          </a:p>
          <a:p>
            <a:r>
              <a:rPr lang="ru-RU" sz="2400" dirty="0"/>
              <a:t>«-» - </a:t>
            </a:r>
            <a:r>
              <a:rPr lang="en-US" sz="2400" dirty="0"/>
              <a:t>private-</a:t>
            </a:r>
            <a:r>
              <a:rPr lang="ru-RU" sz="2400" dirty="0"/>
              <a:t>поле</a:t>
            </a:r>
          </a:p>
          <a:p>
            <a:r>
              <a:rPr lang="ru-RU" sz="2400" dirty="0"/>
              <a:t>«+» - </a:t>
            </a:r>
            <a:r>
              <a:rPr lang="en-US" sz="2400" dirty="0"/>
              <a:t>public</a:t>
            </a:r>
            <a:r>
              <a:rPr lang="ru-RU" sz="2400" dirty="0"/>
              <a:t>-поле</a:t>
            </a:r>
          </a:p>
          <a:p>
            <a:r>
              <a:rPr lang="ru-RU" sz="2400" dirty="0"/>
              <a:t>«</a:t>
            </a:r>
            <a:r>
              <a:rPr lang="en-US" sz="2400" dirty="0"/>
              <a:t>#</a:t>
            </a:r>
            <a:r>
              <a:rPr lang="ru-RU" sz="2400" dirty="0"/>
              <a:t>»</a:t>
            </a:r>
            <a:r>
              <a:rPr lang="en-US" sz="2400" dirty="0"/>
              <a:t> - protected</a:t>
            </a:r>
            <a:r>
              <a:rPr lang="ru-RU" sz="2400" dirty="0"/>
              <a:t>-поле</a:t>
            </a:r>
          </a:p>
          <a:p>
            <a:endParaRPr lang="en-US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BCB742-51C1-4B5A-8AB0-F185DB19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23" y="2167218"/>
            <a:ext cx="1421466" cy="3790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6288B8-CF9E-4CBE-AA1F-241512B3B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53" y="2725570"/>
            <a:ext cx="1472935" cy="30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3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B786C-E4A3-4BF7-8F26-FE32AAFE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CE12D-9EC6-4B75-8990-9F357C68C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588"/>
            <a:ext cx="10515600" cy="4285410"/>
          </a:xfrm>
        </p:spPr>
        <p:txBody>
          <a:bodyPr/>
          <a:lstStyle/>
          <a:p>
            <a:pPr algn="just"/>
            <a:r>
              <a:rPr lang="ru-RU" dirty="0"/>
              <a:t>Напишите абстрактный базовый класс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dirty="0"/>
              <a:t>Напишите дочерний класс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</a:t>
            </a:r>
            <a:r>
              <a:rPr lang="ru-RU" dirty="0"/>
              <a:t>, публично наследуемый от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dirty="0"/>
              <a:t>Напишите дочерний класс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Folder</a:t>
            </a:r>
            <a:r>
              <a:rPr lang="ru-RU" dirty="0"/>
              <a:t>, публично наследуемый от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endParaRPr lang="ru-RU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/>
            <a:r>
              <a:rPr lang="ru-RU" sz="2400" dirty="0"/>
              <a:t>В функции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/>
              <a:t>протестируйте работу реализованных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65846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0DD64-240C-43D1-BEF0-D9EF0266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ru-RU" dirty="0"/>
              <a:t>Пример вывода дерева файловой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FA5A5-EB2C-4CFF-A76E-FFD46874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1"/>
            <a:ext cx="10515600" cy="4688822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A9380A-5D49-4197-869D-DA626B3AE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36" y="2523284"/>
            <a:ext cx="6823462" cy="240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4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F00A6-F0D5-4D04-800A-5D25BA15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Расширение функционала (готово)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02F777-5224-4454-B45E-5A3FEC09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123" y="1332123"/>
            <a:ext cx="11187953" cy="52280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Сегодня (14.11, 18.11) мы сосредоточимся на упрощении навигации внутри нашей модели файловой системы. Для этого</a:t>
            </a:r>
          </a:p>
          <a:p>
            <a:pPr algn="just"/>
            <a:r>
              <a:rPr lang="ru-RU" sz="2400" dirty="0"/>
              <a:t>Проведём рефакторинг создания элемента системы (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createFolder</a:t>
            </a:r>
            <a:r>
              <a:rPr lang="ru-RU" sz="2400" dirty="0"/>
              <a:t>,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createFile</a:t>
            </a:r>
            <a:r>
              <a:rPr lang="ru-RU" sz="2400" dirty="0"/>
              <a:t> вместо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addElement</a:t>
            </a:r>
            <a:r>
              <a:rPr lang="ru-RU" sz="2400" dirty="0"/>
              <a:t>)</a:t>
            </a:r>
            <a:endParaRPr lang="en-US" sz="2400" dirty="0"/>
          </a:p>
          <a:p>
            <a:pPr algn="just"/>
            <a:r>
              <a:rPr lang="ru-RU" sz="2400" dirty="0"/>
              <a:t>Добавим новое поле </a:t>
            </a:r>
            <a:r>
              <a:rPr lang="en-US" sz="2400" dirty="0"/>
              <a:t>parent (</a:t>
            </a:r>
            <a:r>
              <a:rPr lang="ru-RU" sz="2400" dirty="0"/>
              <a:t>родительская папка</a:t>
            </a:r>
            <a:r>
              <a:rPr lang="en-US" sz="2400" dirty="0"/>
              <a:t>) + </a:t>
            </a:r>
            <a:r>
              <a:rPr lang="ru-RU" sz="2400" dirty="0"/>
              <a:t>сеттер и геттер для него</a:t>
            </a:r>
            <a:endParaRPr lang="en-US" sz="2400" dirty="0"/>
          </a:p>
          <a:p>
            <a:pPr algn="just"/>
            <a:r>
              <a:rPr lang="ru-RU" sz="2400" dirty="0"/>
              <a:t>Реализуем поиск элемента файловой системы по имени (фундамент)</a:t>
            </a:r>
            <a:endParaRPr lang="en-US" sz="2400" dirty="0"/>
          </a:p>
          <a:p>
            <a:pPr lvl="1" algn="just"/>
            <a:r>
              <a:rPr lang="ru-RU" sz="2000" dirty="0"/>
              <a:t>Поиск в текущей папке (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findLocalByName</a:t>
            </a:r>
            <a:r>
              <a:rPr lang="ru-RU" sz="2000" dirty="0"/>
              <a:t>)</a:t>
            </a:r>
            <a:endParaRPr lang="en-US" sz="2400" dirty="0"/>
          </a:p>
          <a:p>
            <a:pPr algn="just"/>
            <a:r>
              <a:rPr lang="ru-RU" sz="2400" dirty="0"/>
              <a:t>Реализуем удаление файла в текущей директории (на основе поиска)</a:t>
            </a:r>
            <a:endParaRPr lang="en-US" sz="2400" dirty="0"/>
          </a:p>
          <a:p>
            <a:pPr algn="just"/>
            <a:r>
              <a:rPr lang="ru-RU" sz="2400" dirty="0"/>
              <a:t>Реализуем глубокий поиск (по всем внутренним папкам)</a:t>
            </a:r>
            <a:endParaRPr lang="en-US" sz="2400" dirty="0"/>
          </a:p>
          <a:p>
            <a:pPr algn="just"/>
            <a:r>
              <a:rPr lang="ru-RU" sz="2400" dirty="0"/>
              <a:t>Подсчитаем количество файлов и папок</a:t>
            </a:r>
            <a:endParaRPr lang="en-US" sz="2400" dirty="0"/>
          </a:p>
          <a:p>
            <a:pPr algn="just"/>
            <a:r>
              <a:rPr lang="ru-RU" sz="2400" dirty="0"/>
              <a:t>Выведем полный путь файла</a:t>
            </a:r>
            <a:r>
              <a:rPr lang="en-US" sz="2400" dirty="0"/>
              <a:t>/</a:t>
            </a:r>
            <a:r>
              <a:rPr lang="ru-RU" sz="2400" dirty="0"/>
              <a:t>папки</a:t>
            </a:r>
            <a:endParaRPr lang="en-US" sz="2400" dirty="0"/>
          </a:p>
          <a:p>
            <a:pPr lvl="1" algn="just"/>
            <a:r>
              <a:rPr lang="ru-RU" dirty="0"/>
              <a:t>Пример вывода: </a:t>
            </a:r>
            <a:r>
              <a:rPr lang="en-US" dirty="0"/>
              <a:t>root/documents/work/presentation.pptx</a:t>
            </a:r>
            <a:endParaRPr lang="en-US" sz="2000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0855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8A78A-A0E0-4F6F-9557-38D67588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357"/>
          </a:xfrm>
        </p:spPr>
        <p:txBody>
          <a:bodyPr/>
          <a:lstStyle/>
          <a:p>
            <a:r>
              <a:rPr lang="ru-RU" dirty="0"/>
              <a:t>Класс перечисления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83ADE5-2DB3-48D9-B976-2D59275AE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32257"/>
          </a:xfrm>
        </p:spPr>
        <p:txBody>
          <a:bodyPr/>
          <a:lstStyle/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sz="2800" dirty="0"/>
              <a:t>Вопрос: как определить, какой объект в векторе </a:t>
            </a:r>
            <a:r>
              <a:rPr lang="en-US" sz="2800" i="1" dirty="0"/>
              <a:t>elements</a:t>
            </a:r>
            <a:r>
              <a:rPr lang="en-US" sz="2800" dirty="0"/>
              <a:t> </a:t>
            </a:r>
            <a:r>
              <a:rPr lang="ru-RU" sz="2800" dirty="0"/>
              <a:t>скрывается под указателем</a:t>
            </a:r>
            <a:r>
              <a:rPr lang="en-US" sz="2800" dirty="0"/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FileSystemElement</a:t>
            </a:r>
            <a:r>
              <a:rPr lang="en-US" sz="2800" dirty="0"/>
              <a:t>?</a:t>
            </a:r>
          </a:p>
          <a:p>
            <a:pPr marL="0" indent="0" algn="just">
              <a:buNone/>
            </a:pPr>
            <a:r>
              <a:rPr lang="ru-RU" dirty="0"/>
              <a:t>Вариант решения:</a:t>
            </a:r>
          </a:p>
          <a:p>
            <a:pPr lvl="1" algn="just"/>
            <a:r>
              <a:rPr lang="ru-RU" dirty="0"/>
              <a:t>Создать класс перечисления</a:t>
            </a:r>
            <a:r>
              <a:rPr lang="en-US" dirty="0"/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enum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class Type {FILE, FOLDER}</a:t>
            </a:r>
          </a:p>
          <a:p>
            <a:pPr lvl="1" algn="just"/>
            <a:r>
              <a:rPr lang="ru-RU" dirty="0"/>
              <a:t>Реализовать методы внутри классов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pPr lvl="1" algn="just"/>
            <a:r>
              <a:rPr lang="ru-RU" dirty="0"/>
              <a:t>Благодаря данному методу мы можем понять, с каким типом элемента файловой системы мы работаем прямо сейчас</a:t>
            </a:r>
          </a:p>
          <a:p>
            <a:pPr marL="0" indent="0" algn="just">
              <a:buNone/>
            </a:pPr>
            <a:r>
              <a:rPr lang="ru-RU" dirty="0"/>
              <a:t>Альтернатива: </a:t>
            </a:r>
            <a:r>
              <a:rPr lang="en-US" sz="20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dynamic_cast</a:t>
            </a:r>
            <a:r>
              <a:rPr lang="ru-RU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dirty="0"/>
              <a:t>(более медленный</a:t>
            </a:r>
            <a:r>
              <a:rPr lang="en-US" dirty="0"/>
              <a:t> </a:t>
            </a:r>
            <a:r>
              <a:rPr lang="ru-RU" dirty="0"/>
              <a:t>и для более большого количества классов)</a:t>
            </a:r>
            <a:endParaRPr lang="en-US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lvl="1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054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F8ABA-3C43-42CB-8C85-6547EF82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1674"/>
          </a:xfrm>
        </p:spPr>
        <p:txBody>
          <a:bodyPr>
            <a:normAutofit/>
          </a:bodyPr>
          <a:lstStyle/>
          <a:p>
            <a:r>
              <a:rPr lang="ru-RU" dirty="0"/>
              <a:t>Разделение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D48F2B-6EAD-44FE-9664-283E59858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9858"/>
            <a:ext cx="10887635" cy="431202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Давайте разделим объявление и реализацию классов по разным файлам, отличных от </a:t>
            </a:r>
            <a:r>
              <a:rPr lang="en-US" i="1" dirty="0"/>
              <a:t>main.cpp</a:t>
            </a:r>
            <a:r>
              <a:rPr lang="en-US" dirty="0"/>
              <a:t>. </a:t>
            </a:r>
            <a:r>
              <a:rPr lang="ru-RU" dirty="0"/>
              <a:t>Для этого:</a:t>
            </a:r>
          </a:p>
          <a:p>
            <a:pPr algn="just"/>
            <a:r>
              <a:rPr lang="ru-RU" dirty="0"/>
              <a:t>Создайте файл </a:t>
            </a:r>
            <a:r>
              <a:rPr lang="en-US" i="1" dirty="0" err="1"/>
              <a:t>FileSystem.h</a:t>
            </a:r>
            <a:endParaRPr lang="en-US" dirty="0"/>
          </a:p>
          <a:p>
            <a:pPr algn="just"/>
            <a:r>
              <a:rPr lang="ru-RU" dirty="0"/>
              <a:t>Создайте объявление классов их полей и методов</a:t>
            </a:r>
          </a:p>
          <a:p>
            <a:pPr algn="just"/>
            <a:r>
              <a:rPr lang="ru-RU" dirty="0"/>
              <a:t>Создайте файл </a:t>
            </a:r>
            <a:r>
              <a:rPr lang="en-US" i="1" dirty="0"/>
              <a:t>FileSystem.cpp</a:t>
            </a:r>
            <a:endParaRPr lang="en-US" dirty="0"/>
          </a:p>
          <a:p>
            <a:pPr algn="just"/>
            <a:r>
              <a:rPr lang="ru-RU" dirty="0"/>
              <a:t>Перенесите туда реализацию всех методов классов</a:t>
            </a:r>
          </a:p>
          <a:p>
            <a:pPr algn="just"/>
            <a:r>
              <a:rPr lang="ru-RU" dirty="0"/>
              <a:t>Главный файл –</a:t>
            </a:r>
            <a:r>
              <a:rPr lang="en-US" dirty="0"/>
              <a:t> </a:t>
            </a:r>
            <a:r>
              <a:rPr lang="en-US" i="1" dirty="0" err="1"/>
              <a:t>main.cp</a:t>
            </a:r>
            <a:endParaRPr lang="ru-RU" i="1" dirty="0"/>
          </a:p>
          <a:p>
            <a:pPr marL="0" indent="0" algn="just">
              <a:buNone/>
            </a:pPr>
            <a:r>
              <a:rPr lang="ru-RU" i="1" dirty="0"/>
              <a:t>Код предоставлен в </a:t>
            </a:r>
            <a:r>
              <a:rPr lang="en-US" i="1" dirty="0" err="1"/>
              <a:t>github</a:t>
            </a:r>
            <a:r>
              <a:rPr lang="en-US" i="1" dirty="0"/>
              <a:t>. </a:t>
            </a:r>
            <a:r>
              <a:rPr lang="ru-RU" i="1" dirty="0"/>
              <a:t>Папка </a:t>
            </a:r>
            <a:r>
              <a:rPr lang="ru-RU" b="0" i="0" u="none" strike="noStrike" dirty="0">
                <a:solidFill>
                  <a:srgbClr val="F0F6FC"/>
                </a:solidFill>
                <a:effectLst/>
                <a:latin typeface="-apple-system"/>
                <a:hlinkClick r:id="rId2" tooltip="Создание модели файловой системы"/>
              </a:rPr>
              <a:t>Создание модели файловой 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21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D8B59-D3CB-41EC-8433-66D6D076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2" y="365125"/>
            <a:ext cx="10950388" cy="647887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ключевого класса файловой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B6D46-0850-4F1F-A616-0B2A49F0E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65" y="1219200"/>
            <a:ext cx="11430000" cy="552225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3200"/>
              <a:t>Мы собираемся внедрить </a:t>
            </a:r>
            <a:r>
              <a:rPr lang="ru-RU" sz="3200" dirty="0"/>
              <a:t>команды по работе с файловой системой в качестве отдельных классов. Но возникает вопрос:</a:t>
            </a:r>
          </a:p>
          <a:p>
            <a:pPr algn="just"/>
            <a:r>
              <a:rPr lang="ru-RU" dirty="0"/>
              <a:t>Как корректно взаимодействовать с файловой системой?</a:t>
            </a:r>
          </a:p>
          <a:p>
            <a:pPr algn="just"/>
            <a:r>
              <a:rPr lang="ru-RU" dirty="0"/>
              <a:t>В добавок к этому хочется где-то хранить базовую информацию файловой системы: корневую и текущую папки</a:t>
            </a:r>
          </a:p>
          <a:p>
            <a:pPr marL="0" indent="0" algn="just">
              <a:buNone/>
            </a:pPr>
            <a:endParaRPr lang="ru-RU" sz="3200" dirty="0"/>
          </a:p>
          <a:p>
            <a:pPr marL="0" indent="0" algn="just">
              <a:buNone/>
            </a:pPr>
            <a:r>
              <a:rPr lang="ru-RU" sz="3200" dirty="0"/>
              <a:t>Возникает куча проблем:</a:t>
            </a:r>
          </a:p>
          <a:p>
            <a:pPr algn="just"/>
            <a:r>
              <a:rPr lang="ru-RU" dirty="0"/>
              <a:t>Каждая команда должна реализовать систему навигации по системе</a:t>
            </a:r>
          </a:p>
          <a:p>
            <a:pPr algn="just"/>
            <a:r>
              <a:rPr lang="ru-RU" dirty="0"/>
              <a:t>Для работы с системой команда должна знать структуру этой системы</a:t>
            </a:r>
          </a:p>
          <a:p>
            <a:pPr algn="just"/>
            <a:r>
              <a:rPr lang="ru-RU" dirty="0"/>
              <a:t>Для каждой команды текущая директория отличается (кто-то в корневой директории работает, кто-то на уровень ниже и т.д.)</a:t>
            </a:r>
          </a:p>
          <a:p>
            <a:pPr algn="just"/>
            <a:r>
              <a:rPr lang="ru-RU" dirty="0"/>
              <a:t>Изменения в файловой системе обязательно затронут команды, которые в итоге придётся переписать</a:t>
            </a:r>
          </a:p>
        </p:txBody>
      </p:sp>
    </p:spTree>
    <p:extLst>
      <p:ext uri="{BB962C8B-B14F-4D97-AF65-F5344CB8AC3E}">
        <p14:creationId xmlns:p14="http://schemas.microsoft.com/office/powerpoint/2010/main" val="397528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7B551-39B9-4E7F-AE81-0CEDF729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365125"/>
            <a:ext cx="10887635" cy="477557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ключевого класса файловой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7EF90-D13E-45FE-A24A-78B49933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65" y="1595717"/>
            <a:ext cx="10887635" cy="432126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Для решения всех этих неудобств мы реализуем класс-директор файловой системы </a:t>
            </a:r>
            <a:r>
              <a:rPr lang="en-US" i="1" dirty="0" err="1"/>
              <a:t>FileSystem</a:t>
            </a:r>
            <a:r>
              <a:rPr lang="en-US" dirty="0"/>
              <a:t>.</a:t>
            </a:r>
            <a:r>
              <a:rPr lang="ru-RU" dirty="0"/>
              <a:t> Плюсы:</a:t>
            </a:r>
          </a:p>
          <a:p>
            <a:pPr algn="just"/>
            <a:r>
              <a:rPr lang="ru-RU" dirty="0"/>
              <a:t>Директор-класс знает структуру системы</a:t>
            </a:r>
          </a:p>
          <a:p>
            <a:pPr algn="just"/>
            <a:r>
              <a:rPr lang="ru-RU" dirty="0"/>
              <a:t>Хранит состояние о корневой и текущей директориях</a:t>
            </a:r>
          </a:p>
          <a:p>
            <a:pPr algn="just"/>
            <a:r>
              <a:rPr lang="ru-RU" dirty="0"/>
              <a:t>Предоставляет интерфейс и навигацию по системе</a:t>
            </a:r>
          </a:p>
          <a:p>
            <a:pPr algn="just"/>
            <a:r>
              <a:rPr lang="ru-RU" dirty="0"/>
              <a:t>При изменении внутренней реализации файловой системы не придётся переписывать команды</a:t>
            </a:r>
          </a:p>
          <a:p>
            <a:pPr marL="0" indent="0" algn="just">
              <a:buNone/>
            </a:pPr>
            <a:r>
              <a:rPr lang="ru-RU" dirty="0"/>
              <a:t>Если провести аналогию: </a:t>
            </a:r>
            <a:r>
              <a:rPr lang="en-US" i="1" dirty="0" err="1"/>
              <a:t>FileSystem</a:t>
            </a:r>
            <a:r>
              <a:rPr lang="en-US" dirty="0"/>
              <a:t> – </a:t>
            </a:r>
            <a:r>
              <a:rPr lang="ru-RU" dirty="0"/>
              <a:t>директор. Команды – специалисты-исполнители. </a:t>
            </a:r>
            <a:endParaRPr lang="en-US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15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B3623-F926-4969-BE6E-50060243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59" y="365126"/>
            <a:ext cx="10860741" cy="638921"/>
          </a:xfrm>
        </p:spPr>
        <p:txBody>
          <a:bodyPr>
            <a:noAutofit/>
          </a:bodyPr>
          <a:lstStyle/>
          <a:p>
            <a:r>
              <a:rPr lang="ru-RU" dirty="0"/>
              <a:t>План разработки</a:t>
            </a:r>
            <a:r>
              <a:rPr lang="en-US" dirty="0"/>
              <a:t> </a:t>
            </a:r>
            <a:r>
              <a:rPr lang="en-US" i="1" dirty="0" err="1"/>
              <a:t>FileSystem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BB43D54-8884-42B6-B9E1-182FF300A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3059" y="1004047"/>
                <a:ext cx="11322423" cy="5692588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Создание каркаса (</a:t>
                </a:r>
                <a:r>
                  <a:rPr lang="en-US" sz="3200" dirty="0"/>
                  <a:t>class </a:t>
                </a:r>
                <a:r>
                  <a:rPr lang="en-US" sz="3200" i="1" dirty="0" err="1"/>
                  <a:t>FileSystem</a:t>
                </a:r>
                <a:r>
                  <a:rPr lang="ru-RU" sz="3200" dirty="0"/>
                  <a:t>)</a:t>
                </a:r>
                <a:endParaRPr lang="en-US" sz="32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Добавляем поля-данные:</a:t>
                </a:r>
                <a:endParaRPr lang="en-US" sz="3200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800" i="1" dirty="0"/>
                  <a:t>root_</a:t>
                </a:r>
                <a:r>
                  <a:rPr lang="en-US" sz="2800" dirty="0"/>
                  <a:t> - </a:t>
                </a:r>
                <a:r>
                  <a:rPr lang="ru-RU" sz="2800" dirty="0"/>
                  <a:t>умный указатель на корневую директорию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800" i="1" dirty="0"/>
                  <a:t>current_folder_</a:t>
                </a:r>
                <a:r>
                  <a:rPr lang="en-US" sz="2800" dirty="0"/>
                  <a:t> - </a:t>
                </a:r>
                <a:r>
                  <a:rPr lang="ru-RU" sz="2800" dirty="0"/>
                  <a:t>сырой указатель (какого типа? </a:t>
                </a:r>
                <a:r>
                  <a:rPr lang="en-US" sz="2800" dirty="0"/>
                  <a:t>:D</a:t>
                </a:r>
                <a:r>
                  <a:rPr lang="ru-RU" sz="2800" dirty="0"/>
                  <a:t>)</a:t>
                </a:r>
                <a:endParaRPr lang="en-US" sz="32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Конструктор файловой системы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ru-RU" sz="2800" dirty="0"/>
                  <a:t>Создание </a:t>
                </a:r>
                <a:r>
                  <a:rPr lang="en-US" sz="2800" i="1" dirty="0"/>
                  <a:t>root_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ru-RU" sz="2800" dirty="0"/>
                  <a:t>Инициализация полей класса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ru-RU" sz="2800" dirty="0"/>
                  <a:t>Как мы будем инициализировать </a:t>
                </a:r>
                <a:r>
                  <a:rPr lang="en-US" sz="2800" i="1" dirty="0"/>
                  <a:t>root_</a:t>
                </a:r>
                <a:r>
                  <a:rPr lang="en-US" sz="2800" dirty="0"/>
                  <a:t>?</a:t>
                </a:r>
                <a:endParaRPr lang="ru-RU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Геттеры полей</a:t>
                </a:r>
                <a:endParaRPr lang="en-US" sz="32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Перенесём инициализацию системы из </a:t>
                </a:r>
                <a:r>
                  <a:rPr lang="en-US" sz="3200" i="1" dirty="0"/>
                  <a:t>Folder</a:t>
                </a:r>
                <a:r>
                  <a:rPr lang="en-US" sz="3200" dirty="0"/>
                  <a:t> </a:t>
                </a:r>
                <a:r>
                  <a:rPr lang="ru-RU" sz="3200" dirty="0"/>
                  <a:t>в новый класс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3200" dirty="0"/>
                  <a:t>Реализация навигации </a:t>
                </a:r>
                <a14:m>
                  <m:oMath xmlns:m="http://schemas.openxmlformats.org/officeDocument/2006/math"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следующий слайд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BB43D54-8884-42B6-B9E1-182FF300A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3059" y="1004047"/>
                <a:ext cx="11322423" cy="5692588"/>
              </a:xfrm>
              <a:blipFill>
                <a:blip r:embed="rId2"/>
                <a:stretch>
                  <a:fillRect l="-1454" t="-2570" r="-431" b="-2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11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503E7-94B5-4DDA-848A-473C018C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71" y="365125"/>
            <a:ext cx="10914529" cy="728569"/>
          </a:xfrm>
        </p:spPr>
        <p:txBody>
          <a:bodyPr/>
          <a:lstStyle/>
          <a:p>
            <a:r>
              <a:rPr lang="ru-RU" dirty="0"/>
              <a:t>План разработки</a:t>
            </a:r>
            <a:r>
              <a:rPr lang="en-US" dirty="0"/>
              <a:t> </a:t>
            </a:r>
            <a:r>
              <a:rPr lang="en-US" i="1" dirty="0" err="1"/>
              <a:t>FileSystem</a:t>
            </a:r>
            <a:r>
              <a:rPr lang="ru-RU" dirty="0"/>
              <a:t>. Навигация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2EE572-1AB8-471D-BA1E-26791152B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1" y="1721224"/>
            <a:ext cx="11438964" cy="477165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Реализация навигации</a:t>
            </a:r>
            <a:r>
              <a:rPr lang="ru-RU" dirty="0"/>
              <a:t> (переход к директории)</a:t>
            </a:r>
            <a:endParaRPr lang="ru-RU" sz="2800" dirty="0"/>
          </a:p>
          <a:p>
            <a:pPr algn="just"/>
            <a:r>
              <a:rPr lang="ru-RU" dirty="0"/>
              <a:t>Два варианта навигации: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Относительный путь (от текущей директории)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ru-RU" dirty="0"/>
              <a:t>Полный путь (от корневой директории)</a:t>
            </a:r>
          </a:p>
          <a:p>
            <a:pPr marL="0" indent="0" algn="just">
              <a:buNone/>
            </a:pPr>
            <a:r>
              <a:rPr lang="ru-RU" dirty="0"/>
              <a:t>Значит, нужно согласовать ввод пути в зависимости от варианта навигации. Например:</a:t>
            </a:r>
          </a:p>
          <a:p>
            <a:pPr lvl="1" algn="just"/>
            <a:r>
              <a:rPr lang="ru-RU" dirty="0"/>
              <a:t>Полный путь всегда начинается с </a:t>
            </a:r>
            <a:r>
              <a:rPr lang="en-US" dirty="0"/>
              <a:t>‘/’</a:t>
            </a:r>
            <a:endParaRPr lang="ru-RU" dirty="0"/>
          </a:p>
          <a:p>
            <a:pPr lvl="1" algn="just"/>
            <a:r>
              <a:rPr lang="ru-RU" dirty="0"/>
              <a:t>Реализовать проверку названия первой директории в пути (</a:t>
            </a:r>
            <a:r>
              <a:rPr lang="en-US" dirty="0"/>
              <a:t>‘root’</a:t>
            </a:r>
            <a:r>
              <a:rPr lang="ru-RU" dirty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42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C81A1-7955-4838-9686-E6CA578F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65125"/>
            <a:ext cx="10896600" cy="773393"/>
          </a:xfrm>
        </p:spPr>
        <p:txBody>
          <a:bodyPr/>
          <a:lstStyle/>
          <a:p>
            <a:r>
              <a:rPr lang="ru-RU" dirty="0"/>
              <a:t>План разработки</a:t>
            </a:r>
            <a:r>
              <a:rPr lang="en-US" dirty="0"/>
              <a:t> </a:t>
            </a:r>
            <a:r>
              <a:rPr lang="en-US" i="1" dirty="0" err="1"/>
              <a:t>FileSystem</a:t>
            </a:r>
            <a:r>
              <a:rPr lang="ru-RU" dirty="0"/>
              <a:t>. Навигация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ECE8C-E458-444F-A0D6-38344ABF5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7" y="2178424"/>
            <a:ext cx="11223811" cy="361277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Допустим мы определились с вариантами навигации. Но нам понадобится метод, помогающий разбить строку, содержащую путь, по «слэшу»:</a:t>
            </a:r>
          </a:p>
          <a:p>
            <a:pPr marL="0" indent="0" algn="just">
              <a:buNone/>
            </a:pPr>
            <a:r>
              <a:rPr lang="ru-RU" dirty="0"/>
              <a:t>Из</a:t>
            </a:r>
            <a:r>
              <a:rPr lang="en-US" dirty="0"/>
              <a:t> </a:t>
            </a:r>
            <a:r>
              <a:rPr lang="ru-RU" dirty="0"/>
              <a:t>строки: </a:t>
            </a:r>
            <a:r>
              <a:rPr lang="en-US" dirty="0"/>
              <a:t>“/documents/something”</a:t>
            </a:r>
          </a:p>
          <a:p>
            <a:pPr marL="0" indent="0" algn="just">
              <a:buNone/>
            </a:pPr>
            <a:r>
              <a:rPr lang="ru-RU" dirty="0"/>
              <a:t>Получить вектор строк: </a:t>
            </a:r>
            <a:r>
              <a:rPr lang="en-US"/>
              <a:t>[“</a:t>
            </a:r>
            <a:r>
              <a:rPr lang="en-US" dirty="0"/>
              <a:t>documents”, “something”]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Такой подход упрощает работу с навигацией. В цикле нам остаётся перебрать все элементы вектора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1146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EC1ED-8160-4101-9023-8B64F58A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301"/>
            <a:ext cx="10896600" cy="818216"/>
          </a:xfrm>
        </p:spPr>
        <p:txBody>
          <a:bodyPr>
            <a:normAutofit/>
          </a:bodyPr>
          <a:lstStyle/>
          <a:p>
            <a:r>
              <a:rPr lang="ru-RU" dirty="0"/>
              <a:t>План разработки</a:t>
            </a:r>
            <a:r>
              <a:rPr lang="en-US" dirty="0"/>
              <a:t> </a:t>
            </a:r>
            <a:r>
              <a:rPr lang="en-US" i="1" dirty="0" err="1"/>
              <a:t>FileSystem</a:t>
            </a:r>
            <a:r>
              <a:rPr lang="ru-RU" dirty="0"/>
              <a:t>. Навигация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B8C199-4745-46D0-9CE0-22317AA43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623"/>
            <a:ext cx="10515600" cy="346037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Систематизируем, что мы хотим реализовать: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Написать метод разделения строки на подстроки: </a:t>
            </a:r>
            <a:r>
              <a:rPr lang="en-US" i="1" dirty="0" err="1"/>
              <a:t>splitPath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dirty="0"/>
              <a:t>Написать метод </a:t>
            </a:r>
            <a:r>
              <a:rPr lang="en-US" i="1" dirty="0" err="1"/>
              <a:t>navigateToPath</a:t>
            </a:r>
            <a:r>
              <a:rPr lang="ru-RU" dirty="0"/>
              <a:t>, который будет выбирать один из методов навигации в зависимости от ключевого признака: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i="1" dirty="0" err="1"/>
              <a:t>navigateFromRoot</a:t>
            </a:r>
            <a:r>
              <a:rPr lang="en-US" dirty="0"/>
              <a:t> – </a:t>
            </a:r>
            <a:r>
              <a:rPr lang="ru-RU" dirty="0"/>
              <a:t>переход к директории, начиная с корневой</a:t>
            </a:r>
            <a:endParaRPr lang="en-US" i="1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i="1" dirty="0" err="1"/>
              <a:t>navigateFromCurrent</a:t>
            </a:r>
            <a:r>
              <a:rPr lang="ru-RU" dirty="0"/>
              <a:t> – переход к директории, начиная от текущей</a:t>
            </a:r>
          </a:p>
          <a:p>
            <a:pPr marL="971550" lvl="1" indent="-514350" algn="just">
              <a:buFont typeface="+mj-lt"/>
              <a:buAutoNum type="arabicPeriod"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290577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29B2B-2750-4B51-8ED0-AA58332E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969"/>
          </a:xfrm>
        </p:spPr>
        <p:txBody>
          <a:bodyPr/>
          <a:lstStyle/>
          <a:p>
            <a:r>
              <a:rPr lang="ru-RU" dirty="0"/>
              <a:t>Универсальный </a:t>
            </a:r>
            <a:r>
              <a:rPr lang="en-US" i="1" dirty="0" err="1"/>
              <a:t>splitStr</a:t>
            </a:r>
            <a:r>
              <a:rPr lang="en-US" i="1" dirty="0"/>
              <a:t>()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924BD0-DD68-494F-AC3A-362CB1B3D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547"/>
            <a:ext cx="10515600" cy="481432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Нам необходимо обрабатывать команды пользователя. По-хорошему их тоже нужно разбить на подстроки. Но в этом случае разделителем будет являться не </a:t>
            </a:r>
            <a:r>
              <a:rPr lang="en-US" dirty="0"/>
              <a:t>‘/’</a:t>
            </a:r>
            <a:r>
              <a:rPr lang="ru-RU" dirty="0"/>
              <a:t> (слэш)</a:t>
            </a:r>
            <a:r>
              <a:rPr lang="en-US" dirty="0"/>
              <a:t>, </a:t>
            </a:r>
            <a:r>
              <a:rPr lang="ru-RU" dirty="0"/>
              <a:t>а пробел!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Задание: Обновить метод </a:t>
            </a:r>
            <a:r>
              <a:rPr lang="en-US" dirty="0" err="1"/>
              <a:t>splitPath</a:t>
            </a:r>
            <a:r>
              <a:rPr lang="en-US" dirty="0"/>
              <a:t>, </a:t>
            </a:r>
            <a:r>
              <a:rPr lang="ru-RU" dirty="0"/>
              <a:t>который</a:t>
            </a:r>
          </a:p>
          <a:p>
            <a:pPr lvl="1" algn="just"/>
            <a:r>
              <a:rPr lang="ru-RU" dirty="0"/>
              <a:t>Называется </a:t>
            </a:r>
            <a:r>
              <a:rPr lang="en-US" dirty="0" err="1"/>
              <a:t>splitStr</a:t>
            </a:r>
            <a:r>
              <a:rPr lang="en-US" dirty="0"/>
              <a:t>()</a:t>
            </a:r>
          </a:p>
          <a:p>
            <a:pPr lvl="1" algn="just"/>
            <a:r>
              <a:rPr lang="ru-RU" dirty="0"/>
              <a:t>Принимает вторым аргументом </a:t>
            </a:r>
            <a:r>
              <a:rPr lang="en-US" dirty="0"/>
              <a:t>char – </a:t>
            </a:r>
            <a:r>
              <a:rPr lang="ru-RU" dirty="0"/>
              <a:t>разделитель строки (слэш или пробел и т.д.)</a:t>
            </a:r>
          </a:p>
        </p:txBody>
      </p:sp>
    </p:spTree>
    <p:extLst>
      <p:ext uri="{BB962C8B-B14F-4D97-AF65-F5344CB8AC3E}">
        <p14:creationId xmlns:p14="http://schemas.microsoft.com/office/powerpoint/2010/main" val="732527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A3D88-2395-46EE-8C2A-3333581B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71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Проблема метода </a:t>
            </a:r>
            <a:r>
              <a:rPr lang="en-US" i="1" dirty="0" err="1"/>
              <a:t>navigateToPath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03F62-254E-47A3-B176-5382098E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1335740"/>
            <a:ext cx="11456894" cy="515713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Метод </a:t>
            </a:r>
            <a:r>
              <a:rPr lang="en-US" dirty="0" err="1"/>
              <a:t>searchLocal</a:t>
            </a:r>
            <a:r>
              <a:rPr lang="en-US" dirty="0"/>
              <a:t> </a:t>
            </a:r>
            <a:r>
              <a:rPr lang="ru-RU" dirty="0"/>
              <a:t>возвращает указатель типа </a:t>
            </a:r>
            <a:r>
              <a:rPr lang="en-US" dirty="0" err="1"/>
              <a:t>FileSystemElement</a:t>
            </a:r>
            <a:r>
              <a:rPr lang="en-US" dirty="0"/>
              <a:t>. </a:t>
            </a:r>
            <a:r>
              <a:rPr lang="ru-RU" dirty="0"/>
              <a:t>То есть внутри </a:t>
            </a:r>
            <a:r>
              <a:rPr lang="en-US" dirty="0" err="1"/>
              <a:t>navigateToPath</a:t>
            </a:r>
            <a:r>
              <a:rPr lang="en-US" dirty="0"/>
              <a:t> </a:t>
            </a:r>
            <a:r>
              <a:rPr lang="ru-RU" dirty="0"/>
              <a:t>мы можем перейти… в файл? Это ведь нелогично!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Необходимо не допустить подобного поведения программы</a:t>
            </a:r>
          </a:p>
          <a:p>
            <a:pPr algn="just"/>
            <a:r>
              <a:rPr lang="ru-RU" dirty="0"/>
              <a:t> Переписать </a:t>
            </a:r>
            <a:r>
              <a:rPr lang="en-US" dirty="0" err="1"/>
              <a:t>searchLocal</a:t>
            </a:r>
            <a:r>
              <a:rPr lang="en-US" dirty="0"/>
              <a:t>? </a:t>
            </a:r>
            <a:r>
              <a:rPr lang="ru-RU" dirty="0"/>
              <a:t>Это достаточно универсальный метод для поиска элементов файловой системы, лучше его оставить как есть</a:t>
            </a:r>
          </a:p>
          <a:p>
            <a:pPr algn="just"/>
            <a:r>
              <a:rPr lang="ru-RU" dirty="0"/>
              <a:t>На самом деле проблема крылась в некорректном преобразовании указателя </a:t>
            </a:r>
            <a:r>
              <a:rPr lang="en-US" i="1" dirty="0" err="1"/>
              <a:t>FileSystemElement</a:t>
            </a:r>
            <a:r>
              <a:rPr lang="en-US" i="1" dirty="0"/>
              <a:t>*</a:t>
            </a:r>
            <a:endParaRPr lang="ru-RU" i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05D815-0737-4FCE-8C4D-653CD901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241" y="2575112"/>
            <a:ext cx="6815856" cy="85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47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BE13D-5401-415A-8036-DCAF8E12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322"/>
          </a:xfrm>
        </p:spPr>
        <p:txBody>
          <a:bodyPr/>
          <a:lstStyle/>
          <a:p>
            <a:r>
              <a:rPr lang="ru-RU" dirty="0"/>
              <a:t>Первая команда?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E0D1E-28B0-4EAC-9A23-FA04E3C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64" y="1869140"/>
            <a:ext cx="11412071" cy="407445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Мы организовали переход по папкам с помощью метода </a:t>
            </a:r>
            <a:r>
              <a:rPr lang="en-US" i="1" dirty="0" err="1"/>
              <a:t>navigateToPath</a:t>
            </a:r>
            <a:r>
              <a:rPr lang="en-US" dirty="0"/>
              <a:t>!</a:t>
            </a:r>
            <a:r>
              <a:rPr lang="ru-RU" dirty="0"/>
              <a:t> 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Теперь мы хотим обернуть этот функционал в команду для пользователя. 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Для начала стоит определиться, как мы организуем ввод и обработку команд…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Очевидно, мы будем пользоваться </a:t>
            </a:r>
            <a:r>
              <a:rPr lang="en-US" dirty="0"/>
              <a:t>switch-case </a:t>
            </a:r>
            <a:r>
              <a:rPr lang="ru-RU" dirty="0"/>
              <a:t>для определения команды и вызова последующего метода, но есть нюанс: данный оператор НЕ ОБРАБАТЫВАЕТ </a:t>
            </a:r>
            <a:r>
              <a:rPr lang="en-US" i="1" dirty="0"/>
              <a:t>string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2065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90E86-CA5F-4B0A-89F4-A176631F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4"/>
            <a:ext cx="10515600" cy="773393"/>
          </a:xfrm>
        </p:spPr>
        <p:txBody>
          <a:bodyPr>
            <a:normAutofit/>
          </a:bodyPr>
          <a:lstStyle/>
          <a:p>
            <a:r>
              <a:rPr lang="ru-RU" sz="4800" dirty="0"/>
              <a:t>Первая команда?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FEDAC2-46BD-4E28-B7A1-FEC655D7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776"/>
            <a:ext cx="10515600" cy="53519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Switch-case </a:t>
            </a:r>
            <a:r>
              <a:rPr lang="ru-RU" dirty="0"/>
              <a:t>прекрасно работает с перечислениями!</a:t>
            </a:r>
          </a:p>
          <a:p>
            <a:pPr marL="0" indent="0" algn="just">
              <a:buNone/>
            </a:pPr>
            <a:r>
              <a:rPr lang="ru-RU" dirty="0"/>
              <a:t>Предлагаю решение: </a:t>
            </a:r>
            <a:r>
              <a:rPr lang="en-US" i="1" dirty="0" err="1"/>
              <a:t>enum</a:t>
            </a:r>
            <a:r>
              <a:rPr lang="en-US" i="1" dirty="0"/>
              <a:t> class Commands {}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enum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some_commands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UNKNOWN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 </a:t>
            </a:r>
            <a:endParaRPr lang="en-US" i="1" dirty="0"/>
          </a:p>
          <a:p>
            <a:pPr marL="0" indent="0" algn="just">
              <a:buNone/>
            </a:pPr>
            <a:r>
              <a:rPr lang="ru-RU" dirty="0"/>
              <a:t>Остаётся связать ввод пользователя с данными командами: необходимо написать метод </a:t>
            </a:r>
            <a:r>
              <a:rPr lang="en-US" i="1" dirty="0" err="1"/>
              <a:t>parseCommand</a:t>
            </a:r>
            <a:r>
              <a:rPr lang="en-US" dirty="0"/>
              <a:t>(),</a:t>
            </a:r>
            <a:r>
              <a:rPr lang="ru-RU" dirty="0"/>
              <a:t> которая будет возвращать</a:t>
            </a:r>
            <a:r>
              <a:rPr lang="en-US" dirty="0"/>
              <a:t> </a:t>
            </a:r>
            <a:r>
              <a:rPr lang="ru-RU" dirty="0"/>
              <a:t>значение из перечисления </a:t>
            </a:r>
            <a:r>
              <a:rPr lang="en-US" dirty="0"/>
              <a:t>Commands</a:t>
            </a:r>
            <a:endParaRPr lang="ru-RU" dirty="0"/>
          </a:p>
          <a:p>
            <a:pPr marL="0" indent="0">
              <a:buNone/>
            </a:pP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parseCommand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"cd"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cmd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"tree"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TREE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 dirty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other commands */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Commands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800" dirty="0">
                <a:solidFill>
                  <a:srgbClr val="2F4F4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UNKNOWN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0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1EB0F-5750-4B2D-826D-F76846A0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568"/>
          </a:xfrm>
        </p:spPr>
        <p:txBody>
          <a:bodyPr>
            <a:normAutofit/>
          </a:bodyPr>
          <a:lstStyle/>
          <a:p>
            <a:r>
              <a:rPr lang="ru-RU" sz="4400" dirty="0"/>
              <a:t>Первая команда?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F24FC-B032-45CE-81BD-5312B9B2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7" y="1290919"/>
            <a:ext cx="11976848" cy="528917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Остаётся написать метод </a:t>
            </a:r>
            <a:r>
              <a:rPr lang="en-US" dirty="0" err="1"/>
              <a:t>CommandProcessor</a:t>
            </a:r>
            <a:r>
              <a:rPr lang="en-US" dirty="0"/>
              <a:t>() </a:t>
            </a:r>
            <a:r>
              <a:rPr lang="ru-RU" dirty="0"/>
              <a:t>для обработки ввода пользователя:</a:t>
            </a:r>
          </a:p>
          <a:p>
            <a:pPr marL="0" indent="0" algn="just">
              <a:buNone/>
            </a:pPr>
            <a:r>
              <a:rPr lang="ru-RU" i="1" dirty="0"/>
              <a:t>	Псевдокод</a:t>
            </a:r>
          </a:p>
          <a:p>
            <a:pPr marL="514350" indent="-514350" algn="just">
              <a:buAutoNum type="arabicPeriod"/>
            </a:pPr>
            <a:r>
              <a:rPr lang="ru-RU" i="1" dirty="0"/>
              <a:t>Команда пуста – завершаем работу метода</a:t>
            </a:r>
          </a:p>
          <a:p>
            <a:pPr marL="514350" indent="-514350" algn="just">
              <a:buAutoNum type="arabicPeriod"/>
            </a:pPr>
            <a:r>
              <a:rPr lang="ru-RU" i="1" dirty="0"/>
              <a:t>Разделяем строку на подстроки с помощью </a:t>
            </a:r>
            <a:r>
              <a:rPr lang="en-US" i="1" dirty="0" err="1"/>
              <a:t>splitStr</a:t>
            </a:r>
            <a:r>
              <a:rPr lang="en-US" i="1" dirty="0"/>
              <a:t>() </a:t>
            </a:r>
            <a:r>
              <a:rPr lang="ru-RU" i="1" dirty="0"/>
              <a:t>по пробелу</a:t>
            </a:r>
          </a:p>
          <a:p>
            <a:pPr marL="514350" indent="-514350" algn="just">
              <a:buAutoNum type="arabicPeriod"/>
            </a:pPr>
            <a:r>
              <a:rPr lang="ru-RU" i="1" dirty="0"/>
              <a:t>Вызываем </a:t>
            </a:r>
            <a:r>
              <a:rPr lang="en-US" i="1" dirty="0" err="1"/>
              <a:t>parseCommand</a:t>
            </a:r>
            <a:r>
              <a:rPr lang="en-US" i="1" dirty="0"/>
              <a:t> </a:t>
            </a:r>
            <a:r>
              <a:rPr lang="ru-RU" i="1" dirty="0"/>
              <a:t>для распознавания команды, передавая первую подстроку</a:t>
            </a:r>
          </a:p>
          <a:p>
            <a:pPr marL="514350" indent="-514350" algn="just">
              <a:buAutoNum type="arabicPeriod"/>
            </a:pPr>
            <a:r>
              <a:rPr lang="ru-RU" i="1" dirty="0"/>
              <a:t>Удаляем первый элемент вектора с подстроками (стираем команду)</a:t>
            </a:r>
          </a:p>
          <a:p>
            <a:pPr marL="514350" indent="-514350" algn="just">
              <a:buAutoNum type="arabicPeriod"/>
            </a:pPr>
            <a:r>
              <a:rPr lang="en-US" i="1" dirty="0"/>
              <a:t>Switch-case, </a:t>
            </a:r>
            <a:r>
              <a:rPr lang="ru-RU" i="1" dirty="0"/>
              <a:t>с помощью которого вызываем нужную команду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507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F1BC9-5A1E-4589-8369-8D586435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ru-RU" dirty="0"/>
              <a:t>Первая команда!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B60C26-EB6A-4A36-B657-E00A65CE1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65" y="1299882"/>
            <a:ext cx="11277600" cy="48770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Вот так теперь выглядит </a:t>
            </a:r>
            <a:r>
              <a:rPr lang="en-US" dirty="0"/>
              <a:t>main.cpp: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"FileSystem.h"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setlocale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LC_ALL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FileSystem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fs;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user_input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fs.getCurrentFolder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()-&gt;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getPath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'&gt;'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user_input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user_input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"exit"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fs.CommandProcessor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user_input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72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A7D7D-6A09-4B8C-A935-99421111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работы: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FDA844F-AF6F-4E83-B1A7-5C22D1B76B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E27BDD3C-C1D3-4C84-92A8-D16CC0D8AB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5087" y="2977356"/>
            <a:ext cx="4695825" cy="204787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2F7D78-1F12-4183-A678-1936A9DFB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1420019"/>
            <a:ext cx="519112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45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1257</Words>
  <Application>Microsoft Office PowerPoint</Application>
  <PresentationFormat>Широкоэкранный</PresentationFormat>
  <Paragraphs>171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-apple-system</vt:lpstr>
      <vt:lpstr>Arial</vt:lpstr>
      <vt:lpstr>Calibri</vt:lpstr>
      <vt:lpstr>Calibri Light</vt:lpstr>
      <vt:lpstr>Cambria Math</vt:lpstr>
      <vt:lpstr>Cascadia Code</vt:lpstr>
      <vt:lpstr>Cascadia Mono</vt:lpstr>
      <vt:lpstr>Тема Office</vt:lpstr>
      <vt:lpstr>Практика Создание модели файловой системы</vt:lpstr>
      <vt:lpstr>Задача</vt:lpstr>
      <vt:lpstr>Проектирование</vt:lpstr>
      <vt:lpstr>Проектирование</vt:lpstr>
      <vt:lpstr>UML-диаграмма</vt:lpstr>
      <vt:lpstr>UML-диаграмма</vt:lpstr>
      <vt:lpstr>Реализация</vt:lpstr>
      <vt:lpstr>Пример вывода дерева файловой системы</vt:lpstr>
      <vt:lpstr>Расширение функционала (готово)</vt:lpstr>
      <vt:lpstr>Класс перечисления</vt:lpstr>
      <vt:lpstr>Разделение кода</vt:lpstr>
      <vt:lpstr>Создание ключевого класса файловой системы</vt:lpstr>
      <vt:lpstr>Создание ключевого класса файловой системы</vt:lpstr>
      <vt:lpstr>План разработки FileSystem</vt:lpstr>
      <vt:lpstr>План разработки FileSystem. Навигация</vt:lpstr>
      <vt:lpstr>План разработки FileSystem. Навигация</vt:lpstr>
      <vt:lpstr>План разработки FileSystem. Навигация</vt:lpstr>
      <vt:lpstr>Универсальный splitStr()</vt:lpstr>
      <vt:lpstr>Проблема метода navigateToPath </vt:lpstr>
      <vt:lpstr>Первая команда?</vt:lpstr>
      <vt:lpstr>Первая команда?</vt:lpstr>
      <vt:lpstr>Первая команда?</vt:lpstr>
      <vt:lpstr>Первая команда!</vt:lpstr>
      <vt:lpstr>Демонстрация работы: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Практика Создание модели файловой системы</dc:title>
  <dc:creator>varitch.rodion.2@gmail.com</dc:creator>
  <cp:lastModifiedBy>teacher</cp:lastModifiedBy>
  <cp:revision>72</cp:revision>
  <dcterms:created xsi:type="dcterms:W3CDTF">2025-11-13T12:14:06Z</dcterms:created>
  <dcterms:modified xsi:type="dcterms:W3CDTF">2025-11-21T18:38:25Z</dcterms:modified>
</cp:coreProperties>
</file>