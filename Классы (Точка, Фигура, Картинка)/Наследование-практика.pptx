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9" r:id="rId5"/>
    <p:sldId id="260" r:id="rId6"/>
    <p:sldId id="258" r:id="rId7"/>
    <p:sldId id="261" r:id="rId8"/>
    <p:sldId id="267" r:id="rId9"/>
    <p:sldId id="263" r:id="rId10"/>
    <p:sldId id="266" r:id="rId11"/>
    <p:sldId id="264" r:id="rId12"/>
    <p:sldId id="265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2D623E-E96A-4F79-8FAA-E238226A0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B353E8-2EB2-4F8D-9786-8DB963317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94FD5D-31AA-47CB-8578-E425E1BEF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5AD-5CAC-4356-9761-C7E1CF0A0A01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0FE901-2DF4-441E-9DDD-E0DE2DCA8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9650C5-852F-4F5A-8DB4-4C3DD5650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9BA8-56D5-410A-8FD1-CC5FF4E784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010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388B4B-EA53-425A-92D4-F72B1F69A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2C6B7D-A535-45A3-B18D-B5592E1D9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712669-C7D7-49AA-A1F6-4EDA94BC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5AD-5CAC-4356-9761-C7E1CF0A0A01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C36775-2E02-41C9-998B-6459E508D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9EA17A-6CC5-474F-89D6-B1BCCDCD1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9BA8-56D5-410A-8FD1-CC5FF4E784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3264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2DDFE4-C289-468E-B5C8-8F5658F48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ADD033-B0D8-4235-B2F3-3CC14F8E3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AD4FAE-6D54-4A19-9128-630758CD7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5AD-5CAC-4356-9761-C7E1CF0A0A01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E70B30-DA7E-4F0F-9B21-35B3210E8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8EE9D2-256A-41F0-B116-86F761129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9BA8-56D5-410A-8FD1-CC5FF4E784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6964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B2445-81F0-46FA-8385-B506D870B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6DFE96-063B-4B05-A958-984B42505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67B8A0-9887-4588-8816-7CC1D961B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87D034-32D4-4770-B2C2-E4E5AD561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5AD-5CAC-4356-9761-C7E1CF0A0A01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56E8A8-60CF-41F2-8441-1B617F262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D3AEBF-AB44-440E-9AC6-54DF8E70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9BA8-56D5-410A-8FD1-CC5FF4E784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0957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E4B790-5BC7-41DE-98A2-2A341AAF9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677FCF-6436-4F1D-884B-AB6EACEB9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764F54-0501-4DF4-BA4F-62A2C47D7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4AB95EF-6F09-41E6-8A66-ACE53468D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B8D2212-D06A-4131-B508-6D7B3CFF8F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2D5C1EB-6D5D-4370-9893-D727F5DF8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5AD-5CAC-4356-9761-C7E1CF0A0A01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0107476-D380-48E1-B3EE-9B69DB06C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21209FD-CF36-4433-A256-7F0F99786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9BA8-56D5-410A-8FD1-CC5FF4E784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103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5FDEA1-79B4-44F1-B970-24AAF2D0F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ADF1F91-8087-4D9E-A3E9-2AD281028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5AD-5CAC-4356-9761-C7E1CF0A0A01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9ADD00-F1FD-4CE5-A0F3-F7A5AD555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41325DA-6733-48E5-9912-3B6E98EF7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9BA8-56D5-410A-8FD1-CC5FF4E784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8504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789DB75-EF5F-4E46-B990-53F7004E8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5AD-5CAC-4356-9761-C7E1CF0A0A01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4A16E01-0350-4E68-9F73-6B3B14F47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65951C-671F-407C-A042-ADD11E44A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9BA8-56D5-410A-8FD1-CC5FF4E784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375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AC06C4-7E00-42E0-AB36-75310103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0D5C8A-9676-447D-9E67-38E62CFBB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3176B1-924F-4538-AA5B-8E92437B0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101360-50F1-44E7-9E8D-9FD037342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5AD-5CAC-4356-9761-C7E1CF0A0A01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D0433B-59F8-4E8D-956B-F68BCF07D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8E0289-DAAE-4B63-B4E5-FF9DC7AD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9BA8-56D5-410A-8FD1-CC5FF4E784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119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A01240-FF25-4CA0-B632-BEB488BA8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F83AD1D-5FE2-4BB5-9511-DD5388B0B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163D0D-7E2D-4E50-BB63-4FB69C512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8276ED-43DC-42DD-B57E-D6B24CC96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5AD-5CAC-4356-9761-C7E1CF0A0A01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05F359-2575-4FFD-986A-654F95297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AA0944-F3A3-4525-91E1-AF8D5DE79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9BA8-56D5-410A-8FD1-CC5FF4E784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084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5AA6EB-61D1-46FA-8115-87EA087DB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73F8F2E-8337-4F65-80F6-2CA60BEF0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AB6804-88AA-42D1-A13F-0F2D4F67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5AD-5CAC-4356-9761-C7E1CF0A0A01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E087FC-BE8A-49EF-B9F1-4DE074BC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A8DD3E-9E8E-4B3B-9A74-8A374A92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9BA8-56D5-410A-8FD1-CC5FF4E784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3723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6DB28D7-33A2-4E99-BBA4-A8103B3398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BBF5DB5-70A3-4310-A699-8B1403520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EC8CD3-C1BD-4C57-946E-62599A47E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5AD-5CAC-4356-9761-C7E1CF0A0A01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66E529-ED32-48E6-8C64-A17A6C986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23DABC-0F27-4432-B679-434CACC2E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9BA8-56D5-410A-8FD1-CC5FF4E784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38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CC9E5A-3016-4D94-9C16-F398EBB66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B18780-9382-4207-926B-7959C7258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DE35C3-788E-455D-9F5D-85F3C7CD7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DA5AD-5CAC-4356-9761-C7E1CF0A0A01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13CE59-595C-4CB0-A1F1-A160F458C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16D158-E82B-49A0-8173-9338F02407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89BA8-56D5-410A-8FD1-CC5FF4E784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151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FB0050-7B06-4B87-ACF0-AE78BBA07E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ru-RU" dirty="0"/>
              <a:t>Наследование. Практика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7F6542-B566-4E25-9201-AE554115E4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ru-RU" dirty="0"/>
          </a:p>
          <a:p>
            <a:pPr algn="r"/>
            <a:r>
              <a:rPr lang="ru-RU" dirty="0"/>
              <a:t>11.11.2025</a:t>
            </a:r>
          </a:p>
        </p:txBody>
      </p:sp>
    </p:spTree>
    <p:extLst>
      <p:ext uri="{BB962C8B-B14F-4D97-AF65-F5344CB8AC3E}">
        <p14:creationId xmlns:p14="http://schemas.microsoft.com/office/powerpoint/2010/main" val="909268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E73E8C-468A-44ED-978D-82CD015B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0391F2-506D-42ED-8949-CBCFCEF49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2187"/>
            <a:ext cx="10515600" cy="1748119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Создать классы </a:t>
            </a:r>
            <a:r>
              <a:rPr lang="en-US" dirty="0"/>
              <a:t>Point (</a:t>
            </a:r>
            <a:r>
              <a:rPr lang="ru-RU" dirty="0"/>
              <a:t>точка</a:t>
            </a:r>
            <a:r>
              <a:rPr lang="en-US" dirty="0"/>
              <a:t>)</a:t>
            </a:r>
            <a:r>
              <a:rPr lang="ru-RU" dirty="0"/>
              <a:t> и </a:t>
            </a:r>
            <a:r>
              <a:rPr lang="en-US" dirty="0"/>
              <a:t>Shape (</a:t>
            </a:r>
            <a:r>
              <a:rPr lang="ru-RU" dirty="0"/>
              <a:t>фигура</a:t>
            </a:r>
            <a:r>
              <a:rPr lang="en-US" dirty="0"/>
              <a:t>)</a:t>
            </a:r>
            <a:r>
              <a:rPr lang="ru-RU" dirty="0"/>
              <a:t>. Ваша задача добавить к программе класс</a:t>
            </a:r>
            <a:r>
              <a:rPr lang="en-US" dirty="0"/>
              <a:t> Picture</a:t>
            </a:r>
            <a:r>
              <a:rPr lang="ru-RU" dirty="0"/>
              <a:t>, который будет содержать в себе несколько объектов класса </a:t>
            </a:r>
            <a:r>
              <a:rPr lang="en-US" dirty="0"/>
              <a:t>Shape</a:t>
            </a:r>
            <a:r>
              <a:rPr lang="ru-RU" dirty="0"/>
              <a:t>, создавая тем самым композицию</a:t>
            </a:r>
          </a:p>
        </p:txBody>
      </p:sp>
    </p:spTree>
    <p:extLst>
      <p:ext uri="{BB962C8B-B14F-4D97-AF65-F5344CB8AC3E}">
        <p14:creationId xmlns:p14="http://schemas.microsoft.com/office/powerpoint/2010/main" val="2342760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0E2546-648B-4C43-818E-A11D9372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3062"/>
          </a:xfrm>
        </p:spPr>
        <p:txBody>
          <a:bodyPr>
            <a:normAutofit fontScale="90000"/>
          </a:bodyPr>
          <a:lstStyle/>
          <a:p>
            <a:r>
              <a:rPr lang="ru-RU" dirty="0"/>
              <a:t>Этап 1.1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DD0F87-29F0-4DC4-8188-7CEC1D523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425388"/>
            <a:ext cx="11241740" cy="4751575"/>
          </a:xfrm>
        </p:spPr>
        <p:txBody>
          <a:bodyPr>
            <a:normAutofit/>
          </a:bodyPr>
          <a:lstStyle/>
          <a:p>
            <a:pPr algn="just"/>
            <a:r>
              <a:rPr lang="ru-RU" sz="3600" dirty="0"/>
              <a:t>Создать класс</a:t>
            </a:r>
            <a:r>
              <a:rPr lang="en-US" sz="3600" dirty="0"/>
              <a:t> </a:t>
            </a:r>
            <a:r>
              <a:rPr lang="en-US" sz="3600" i="1" dirty="0"/>
              <a:t>Point </a:t>
            </a:r>
            <a:r>
              <a:rPr lang="en-US" sz="3600" dirty="0"/>
              <a:t>(</a:t>
            </a:r>
            <a:r>
              <a:rPr lang="ru-RU" sz="3600" dirty="0"/>
              <a:t>точка</a:t>
            </a:r>
            <a:r>
              <a:rPr lang="en-US" sz="3600" dirty="0"/>
              <a:t>), </a:t>
            </a:r>
            <a:r>
              <a:rPr lang="ru-RU" sz="3600" dirty="0"/>
              <a:t>содержащий:</a:t>
            </a:r>
          </a:p>
          <a:p>
            <a:pPr lvl="1" algn="just"/>
            <a:r>
              <a:rPr lang="en-US" sz="3200" i="1" dirty="0"/>
              <a:t>Private</a:t>
            </a:r>
            <a:r>
              <a:rPr lang="ru-RU" sz="3200" dirty="0"/>
              <a:t> поля:</a:t>
            </a:r>
          </a:p>
          <a:p>
            <a:pPr lvl="2" algn="just"/>
            <a:r>
              <a:rPr lang="ru-RU" sz="2800" dirty="0"/>
              <a:t>Координата </a:t>
            </a:r>
            <a:r>
              <a:rPr lang="en-US" sz="2800" i="1" dirty="0"/>
              <a:t>x</a:t>
            </a:r>
            <a:endParaRPr lang="ru-RU" sz="2800" i="1" dirty="0"/>
          </a:p>
          <a:p>
            <a:pPr lvl="2" algn="just"/>
            <a:r>
              <a:rPr lang="ru-RU" sz="2800" dirty="0"/>
              <a:t>Координата </a:t>
            </a:r>
            <a:r>
              <a:rPr lang="en-US" sz="2800" i="1" dirty="0"/>
              <a:t>y</a:t>
            </a:r>
            <a:endParaRPr lang="ru-RU" sz="2800" i="1" dirty="0"/>
          </a:p>
          <a:p>
            <a:pPr lvl="1" algn="just"/>
            <a:r>
              <a:rPr lang="en-US" sz="3200" i="1" dirty="0"/>
              <a:t>Public</a:t>
            </a:r>
            <a:r>
              <a:rPr lang="en-US" sz="3200" dirty="0"/>
              <a:t> </a:t>
            </a:r>
            <a:r>
              <a:rPr lang="ru-RU" sz="3200" dirty="0"/>
              <a:t>методы:</a:t>
            </a:r>
          </a:p>
          <a:p>
            <a:pPr lvl="2" algn="just"/>
            <a:r>
              <a:rPr lang="ru-RU" sz="2800" dirty="0"/>
              <a:t>Правило пяти (</a:t>
            </a:r>
            <a:r>
              <a:rPr lang="en-US" sz="2800" dirty="0"/>
              <a:t>rule-of-five</a:t>
            </a:r>
            <a:r>
              <a:rPr lang="ru-RU" sz="2800" dirty="0"/>
              <a:t>)</a:t>
            </a:r>
          </a:p>
          <a:p>
            <a:pPr marL="1371600" lvl="3" indent="0" algn="just">
              <a:buNone/>
            </a:pPr>
            <a:r>
              <a:rPr lang="ru-RU" sz="2600" dirty="0"/>
              <a:t>Примечание: конструктор должен иметь значение по умолчанию</a:t>
            </a:r>
          </a:p>
          <a:p>
            <a:pPr lvl="2" algn="just"/>
            <a:r>
              <a:rPr lang="ru-RU" sz="2800" dirty="0"/>
              <a:t>Сеттеры + Геттеры</a:t>
            </a:r>
          </a:p>
          <a:p>
            <a:pPr lvl="2" algn="just"/>
            <a:r>
              <a:rPr lang="ru-RU" sz="2800" dirty="0"/>
              <a:t>Вывод значений координат на экран</a:t>
            </a:r>
            <a:endParaRPr lang="ru-RU" sz="2800" i="1" dirty="0"/>
          </a:p>
        </p:txBody>
      </p:sp>
    </p:spTree>
    <p:extLst>
      <p:ext uri="{BB962C8B-B14F-4D97-AF65-F5344CB8AC3E}">
        <p14:creationId xmlns:p14="http://schemas.microsoft.com/office/powerpoint/2010/main" val="1989277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C1B435-5DD6-4EE6-B794-23FCBE771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1346"/>
          </a:xfrm>
        </p:spPr>
        <p:txBody>
          <a:bodyPr>
            <a:normAutofit fontScale="90000"/>
          </a:bodyPr>
          <a:lstStyle/>
          <a:p>
            <a:r>
              <a:rPr lang="en-US" dirty="0"/>
              <a:t>Rule-of-Five </a:t>
            </a:r>
            <a:r>
              <a:rPr lang="ru-RU" dirty="0"/>
              <a:t>на примере </a:t>
            </a:r>
            <a:r>
              <a:rPr lang="en-US" i="1" dirty="0" err="1"/>
              <a:t>MyClass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100E48-ACFB-4820-B4E0-9E733CE35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565"/>
            <a:ext cx="10515600" cy="5226423"/>
          </a:xfrm>
        </p:spPr>
        <p:txBody>
          <a:bodyPr>
            <a:normAutofit/>
          </a:bodyPr>
          <a:lstStyle/>
          <a:p>
            <a:r>
              <a:rPr lang="ru-RU" dirty="0"/>
              <a:t>Деструктор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~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{ 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код */</a:t>
            </a: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  <a:endParaRPr lang="ru-RU" sz="3200" dirty="0"/>
          </a:p>
          <a:p>
            <a:r>
              <a:rPr lang="ru-RU" dirty="0"/>
              <a:t>Конструктор копирования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other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список инициализации */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{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код */</a:t>
            </a: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3600" dirty="0"/>
          </a:p>
          <a:p>
            <a:r>
              <a:rPr lang="ru-RU" dirty="0"/>
              <a:t>Оператор присваивания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 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operator=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other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!= &amp;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other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){ 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</a:t>
            </a:r>
            <a:r>
              <a:rPr lang="en-US" sz="20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код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*/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}</a:t>
            </a:r>
            <a:endParaRPr lang="ru-RU" sz="36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1438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021C70-2372-4EB6-9086-75F168835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921"/>
          </a:xfrm>
        </p:spPr>
        <p:txBody>
          <a:bodyPr>
            <a:normAutofit fontScale="90000"/>
          </a:bodyPr>
          <a:lstStyle/>
          <a:p>
            <a:r>
              <a:rPr lang="en-US" dirty="0"/>
              <a:t>Rule-of-Five </a:t>
            </a:r>
            <a:r>
              <a:rPr lang="ru-RU" dirty="0"/>
              <a:t>на примере </a:t>
            </a:r>
            <a:r>
              <a:rPr lang="en-US" i="1" dirty="0" err="1"/>
              <a:t>MyClass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9E9223-9962-4FD7-8F85-9929FB684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4734"/>
            <a:ext cx="10515600" cy="5298141"/>
          </a:xfrm>
        </p:spPr>
        <p:txBody>
          <a:bodyPr/>
          <a:lstStyle/>
          <a:p>
            <a:r>
              <a:rPr lang="ru-RU" dirty="0"/>
              <a:t>Конструктор перемещения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&amp;&amp;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other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noexcept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список инициализации */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{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код с обнулением 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other */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</a:rPr>
              <a:t>Оператор присваивания перемещением	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 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operator=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&amp;&amp;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other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noexcept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!= &amp;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other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код с обнулением 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other */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dirty="0"/>
              <a:t>Примечание: «обнулять» ВАЖНО именно указатели (</a:t>
            </a:r>
            <a:r>
              <a:rPr lang="en-US" dirty="0" err="1"/>
              <a:t>nullptr</a:t>
            </a:r>
            <a:r>
              <a:rPr lang="ru-RU" dirty="0"/>
              <a:t>)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Поля по типу </a:t>
            </a:r>
            <a:r>
              <a:rPr lang="en-US" dirty="0"/>
              <a:t>int, double </a:t>
            </a:r>
            <a:r>
              <a:rPr lang="ru-RU" dirty="0"/>
              <a:t>и т.п. необязательно обнулять</a:t>
            </a:r>
          </a:p>
        </p:txBody>
      </p:sp>
    </p:spTree>
    <p:extLst>
      <p:ext uri="{BB962C8B-B14F-4D97-AF65-F5344CB8AC3E}">
        <p14:creationId xmlns:p14="http://schemas.microsoft.com/office/powerpoint/2010/main" val="2104909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8EB00A-2E0C-4C37-8231-34183166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2028"/>
          </a:xfrm>
        </p:spPr>
        <p:txBody>
          <a:bodyPr>
            <a:normAutofit fontScale="90000"/>
          </a:bodyPr>
          <a:lstStyle/>
          <a:p>
            <a:r>
              <a:rPr lang="ru-RU" dirty="0"/>
              <a:t>Этап 1.2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94C0B2-D9E3-4DB9-AFF7-03EE9993A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377" y="1425388"/>
            <a:ext cx="11609294" cy="4751575"/>
          </a:xfrm>
        </p:spPr>
        <p:txBody>
          <a:bodyPr>
            <a:normAutofit/>
          </a:bodyPr>
          <a:lstStyle/>
          <a:p>
            <a:pPr algn="just"/>
            <a:r>
              <a:rPr lang="ru-RU" sz="3600" dirty="0"/>
              <a:t>Создать класс </a:t>
            </a:r>
            <a:r>
              <a:rPr lang="en-US" sz="3600" i="1" dirty="0"/>
              <a:t>Shape</a:t>
            </a:r>
            <a:r>
              <a:rPr lang="en-US" sz="3600" dirty="0"/>
              <a:t> </a:t>
            </a:r>
            <a:r>
              <a:rPr lang="ru-RU" sz="3600" dirty="0"/>
              <a:t>(абстрактная фигура)</a:t>
            </a:r>
            <a:r>
              <a:rPr lang="en-US" sz="3600" dirty="0"/>
              <a:t>, </a:t>
            </a:r>
            <a:r>
              <a:rPr lang="ru-RU" sz="3600" dirty="0"/>
              <a:t>содержащий:</a:t>
            </a:r>
          </a:p>
          <a:p>
            <a:pPr lvl="1" algn="just"/>
            <a:r>
              <a:rPr lang="en-US" sz="3200" i="1" dirty="0"/>
              <a:t>Private</a:t>
            </a:r>
            <a:r>
              <a:rPr lang="ru-RU" sz="3200" dirty="0"/>
              <a:t> поля:</a:t>
            </a:r>
          </a:p>
          <a:p>
            <a:pPr lvl="2" algn="just"/>
            <a:r>
              <a:rPr lang="ru-RU" sz="2800" dirty="0"/>
              <a:t>«Определяющая» точка (объект класса </a:t>
            </a:r>
            <a:r>
              <a:rPr lang="en-US" sz="2800" dirty="0"/>
              <a:t>Point</a:t>
            </a:r>
            <a:r>
              <a:rPr lang="ru-RU" sz="2800" dirty="0"/>
              <a:t>)</a:t>
            </a:r>
            <a:endParaRPr lang="ru-RU" sz="2800" i="1" dirty="0"/>
          </a:p>
          <a:p>
            <a:pPr lvl="2" algn="just"/>
            <a:r>
              <a:rPr lang="ru-RU" sz="2800" dirty="0"/>
              <a:t>Цвет (например, </a:t>
            </a:r>
            <a:r>
              <a:rPr lang="en-US" sz="2800" dirty="0"/>
              <a:t>std::string: “black”, “red” </a:t>
            </a:r>
            <a:r>
              <a:rPr lang="ru-RU" sz="2800" dirty="0"/>
              <a:t>и т. д.)</a:t>
            </a:r>
          </a:p>
          <a:p>
            <a:pPr lvl="1" algn="just"/>
            <a:r>
              <a:rPr lang="en-US" sz="3200" i="1" dirty="0"/>
              <a:t>Public</a:t>
            </a:r>
            <a:r>
              <a:rPr lang="en-US" sz="3200" dirty="0"/>
              <a:t> </a:t>
            </a:r>
            <a:r>
              <a:rPr lang="ru-RU" sz="3200" dirty="0"/>
              <a:t>методы:</a:t>
            </a:r>
          </a:p>
          <a:p>
            <a:pPr lvl="2" algn="just"/>
            <a:r>
              <a:rPr lang="ru-RU" sz="2800" dirty="0"/>
              <a:t>Правило пяти (</a:t>
            </a:r>
            <a:r>
              <a:rPr lang="en-US" sz="2800" dirty="0"/>
              <a:t>rule-of-five</a:t>
            </a:r>
            <a:r>
              <a:rPr lang="ru-RU" sz="2800" dirty="0"/>
              <a:t>)</a:t>
            </a:r>
          </a:p>
          <a:p>
            <a:pPr marL="1371600" lvl="3" indent="0" algn="just">
              <a:buNone/>
            </a:pPr>
            <a:r>
              <a:rPr lang="ru-RU" sz="2600" dirty="0"/>
              <a:t>Примечание: конструктор должен иметь значение по умолчанию</a:t>
            </a:r>
          </a:p>
          <a:p>
            <a:pPr lvl="2" algn="just"/>
            <a:r>
              <a:rPr lang="en-US" sz="2800" dirty="0"/>
              <a:t>“</a:t>
            </a:r>
            <a:r>
              <a:rPr lang="ru-RU" sz="2800" dirty="0"/>
              <a:t>Нарисовать</a:t>
            </a:r>
            <a:r>
              <a:rPr lang="en-US" sz="2800" dirty="0"/>
              <a:t>”</a:t>
            </a:r>
            <a:r>
              <a:rPr lang="ru-RU" sz="2800" dirty="0"/>
              <a:t> фигуру – вывод сообщения «Рисую фигуру» такого-то цвета с такой координатой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20010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F326A9-3350-4B43-A5A6-46E4D536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5134"/>
          </a:xfrm>
        </p:spPr>
        <p:txBody>
          <a:bodyPr>
            <a:normAutofit fontScale="90000"/>
          </a:bodyPr>
          <a:lstStyle/>
          <a:p>
            <a:r>
              <a:rPr lang="ru-RU" dirty="0"/>
              <a:t>Этап 1.3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28655E-0280-443B-BF79-2C57044A9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6" y="950259"/>
            <a:ext cx="11403107" cy="5692588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sz="3600" dirty="0"/>
              <a:t>Создать класс </a:t>
            </a:r>
            <a:r>
              <a:rPr lang="en-US" sz="3600" i="1" dirty="0"/>
              <a:t>Picture</a:t>
            </a:r>
            <a:r>
              <a:rPr lang="en-US" sz="3600" dirty="0"/>
              <a:t> </a:t>
            </a:r>
            <a:r>
              <a:rPr lang="ru-RU" sz="3600" dirty="0"/>
              <a:t>(картинка)</a:t>
            </a:r>
            <a:r>
              <a:rPr lang="en-US" sz="3600" dirty="0"/>
              <a:t>, </a:t>
            </a:r>
            <a:r>
              <a:rPr lang="ru-RU" sz="3600" dirty="0"/>
              <a:t>содержащий:</a:t>
            </a:r>
          </a:p>
          <a:p>
            <a:pPr lvl="1" algn="just"/>
            <a:r>
              <a:rPr lang="en-US" sz="3200" i="1" dirty="0"/>
              <a:t>Private</a:t>
            </a:r>
            <a:r>
              <a:rPr lang="ru-RU" sz="3200" dirty="0"/>
              <a:t> поля:</a:t>
            </a:r>
          </a:p>
          <a:p>
            <a:pPr lvl="2" algn="just"/>
            <a:r>
              <a:rPr lang="ru-RU" sz="2800" dirty="0"/>
              <a:t>Вектор умных указателей на объекты класса </a:t>
            </a:r>
            <a:r>
              <a:rPr lang="en-US" sz="2800" i="1" dirty="0"/>
              <a:t>Shape</a:t>
            </a:r>
            <a:endParaRPr lang="ru-RU" sz="2800" i="1" dirty="0"/>
          </a:p>
          <a:p>
            <a:pPr lvl="2" algn="just"/>
            <a:r>
              <a:rPr lang="ru-RU" sz="2800" dirty="0"/>
              <a:t>Название картинки</a:t>
            </a:r>
          </a:p>
          <a:p>
            <a:pPr lvl="2" algn="just"/>
            <a:r>
              <a:rPr lang="ru-RU" sz="2800" dirty="0"/>
              <a:t>Поле, ведущее подсчёт фигур на картинке</a:t>
            </a:r>
          </a:p>
          <a:p>
            <a:pPr lvl="2" algn="just"/>
            <a:r>
              <a:rPr lang="ru-RU" sz="2800" dirty="0"/>
              <a:t>Статическое поле, ведущее </a:t>
            </a:r>
            <a:r>
              <a:rPr lang="ru-RU" sz="2800"/>
              <a:t>подсчёт картинок</a:t>
            </a:r>
            <a:endParaRPr lang="ru-RU" sz="2800" dirty="0"/>
          </a:p>
          <a:p>
            <a:pPr lvl="1" algn="just"/>
            <a:r>
              <a:rPr lang="en-US" sz="3200" i="1" dirty="0"/>
              <a:t>Public</a:t>
            </a:r>
            <a:r>
              <a:rPr lang="en-US" sz="3200" dirty="0"/>
              <a:t> </a:t>
            </a:r>
            <a:r>
              <a:rPr lang="ru-RU" sz="3200" dirty="0"/>
              <a:t>методы:</a:t>
            </a:r>
          </a:p>
          <a:p>
            <a:pPr lvl="2" algn="just"/>
            <a:r>
              <a:rPr lang="ru-RU" sz="2800" dirty="0"/>
              <a:t>Конструктор</a:t>
            </a:r>
          </a:p>
          <a:p>
            <a:pPr marL="1371600" lvl="3" indent="0" algn="just">
              <a:buNone/>
            </a:pPr>
            <a:r>
              <a:rPr lang="ru-RU" sz="2600" dirty="0"/>
              <a:t>Примечание: конструктор должен иметь значение по умолчанию</a:t>
            </a:r>
          </a:p>
          <a:p>
            <a:pPr lvl="2" algn="just"/>
            <a:r>
              <a:rPr lang="ru-RU" sz="2800" dirty="0"/>
              <a:t>Добавить фигуру</a:t>
            </a:r>
          </a:p>
          <a:p>
            <a:pPr lvl="2" algn="just"/>
            <a:r>
              <a:rPr lang="en-US" sz="2800" dirty="0"/>
              <a:t>“</a:t>
            </a:r>
            <a:r>
              <a:rPr lang="ru-RU" sz="2800" dirty="0"/>
              <a:t>Нарисовать</a:t>
            </a:r>
            <a:r>
              <a:rPr lang="en-US" sz="2800" dirty="0"/>
              <a:t>”</a:t>
            </a:r>
            <a:r>
              <a:rPr lang="ru-RU" sz="2800" dirty="0"/>
              <a:t> картинку – вывод сообщения «Рисую картинку со следующими фигурами: </a:t>
            </a:r>
            <a:r>
              <a:rPr lang="ru-RU" sz="2800" i="1" dirty="0"/>
              <a:t>вывод всех фигур</a:t>
            </a:r>
            <a:r>
              <a:rPr lang="ru-RU" sz="2800" dirty="0"/>
              <a:t>»</a:t>
            </a:r>
          </a:p>
          <a:p>
            <a:pPr lvl="2" algn="just"/>
            <a:r>
              <a:rPr lang="ru-RU" sz="2800" dirty="0"/>
              <a:t>Удалить фигуры с определённым цветом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2089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A4265-9815-4D42-8CF0-4E320987D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6499"/>
          </a:xfrm>
        </p:spPr>
        <p:txBody>
          <a:bodyPr/>
          <a:lstStyle/>
          <a:p>
            <a:r>
              <a:rPr lang="ru-RU" dirty="0"/>
              <a:t>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3209B5-0810-4D42-9820-8347B637F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5365"/>
            <a:ext cx="10515600" cy="4807510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В функции </a:t>
            </a:r>
            <a:r>
              <a:rPr lang="en-US" dirty="0"/>
              <a:t>main() </a:t>
            </a:r>
            <a:r>
              <a:rPr lang="ru-RU" dirty="0"/>
              <a:t>сделать следующее:</a:t>
            </a:r>
          </a:p>
          <a:p>
            <a:pPr algn="just"/>
            <a:r>
              <a:rPr lang="ru-RU" dirty="0"/>
              <a:t>Создать объект </a:t>
            </a:r>
            <a:r>
              <a:rPr lang="en-US" sz="2800" i="1" dirty="0"/>
              <a:t>Picture</a:t>
            </a:r>
            <a:endParaRPr lang="ru-RU" sz="2800" i="1" dirty="0"/>
          </a:p>
          <a:p>
            <a:pPr algn="just"/>
            <a:r>
              <a:rPr lang="ru-RU" dirty="0"/>
              <a:t>С помощью метода добавить несколько фигур с разными цветами (можно повторяющимися)</a:t>
            </a:r>
          </a:p>
          <a:p>
            <a:pPr algn="just"/>
            <a:r>
              <a:rPr lang="ru-RU" dirty="0"/>
              <a:t>«Вывести» картинку на экран</a:t>
            </a:r>
          </a:p>
          <a:p>
            <a:pPr algn="just"/>
            <a:r>
              <a:rPr lang="ru-RU" dirty="0"/>
              <a:t>Написать лямбда-функцию, которая будет удалять фигуры по определённым признакам (цвет или координата)</a:t>
            </a:r>
          </a:p>
          <a:p>
            <a:pPr algn="just"/>
            <a:r>
              <a:rPr lang="ru-RU" dirty="0"/>
              <a:t>Вновь «вывести» картинку на экран</a:t>
            </a:r>
          </a:p>
        </p:txBody>
      </p:sp>
    </p:spTree>
    <p:extLst>
      <p:ext uri="{BB962C8B-B14F-4D97-AF65-F5344CB8AC3E}">
        <p14:creationId xmlns:p14="http://schemas.microsoft.com/office/powerpoint/2010/main" val="2081480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7A7624-04E7-4728-B737-943AD961F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ru-RU"/>
              <a:t>Задача 2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28121-44CB-40F3-ACDE-649441383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5635"/>
            <a:ext cx="10515600" cy="1689847"/>
          </a:xfrm>
        </p:spPr>
        <p:txBody>
          <a:bodyPr/>
          <a:lstStyle/>
          <a:p>
            <a:pPr algn="just"/>
            <a:r>
              <a:rPr lang="ru-RU" dirty="0"/>
              <a:t>Из </a:t>
            </a:r>
            <a:r>
              <a:rPr lang="ru-RU" b="1" dirty="0"/>
              <a:t>задания 1</a:t>
            </a:r>
            <a:r>
              <a:rPr lang="ru-RU" dirty="0"/>
              <a:t> взять классы </a:t>
            </a:r>
            <a:r>
              <a:rPr lang="en-US" i="1" dirty="0"/>
              <a:t>Point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i="1" dirty="0"/>
              <a:t>Shape</a:t>
            </a:r>
            <a:r>
              <a:rPr lang="ru-RU" dirty="0"/>
              <a:t>. На основе класса </a:t>
            </a:r>
            <a:r>
              <a:rPr lang="en-US" i="1" dirty="0"/>
              <a:t>Shape</a:t>
            </a:r>
            <a:r>
              <a:rPr lang="ru-RU" dirty="0"/>
              <a:t> создать классы </a:t>
            </a:r>
            <a:r>
              <a:rPr lang="en-US" i="1" dirty="0"/>
              <a:t>Circle</a:t>
            </a:r>
            <a:r>
              <a:rPr lang="en-US" dirty="0"/>
              <a:t> (</a:t>
            </a:r>
            <a:r>
              <a:rPr lang="ru-RU" dirty="0"/>
              <a:t>Окружность</a:t>
            </a:r>
            <a:r>
              <a:rPr lang="en-US" dirty="0"/>
              <a:t>)</a:t>
            </a:r>
            <a:r>
              <a:rPr lang="ru-RU" dirty="0"/>
              <a:t> и </a:t>
            </a:r>
            <a:r>
              <a:rPr lang="en-US" i="1" dirty="0"/>
              <a:t>Square</a:t>
            </a:r>
            <a:r>
              <a:rPr lang="en-US" dirty="0"/>
              <a:t> (</a:t>
            </a:r>
            <a:r>
              <a:rPr lang="ru-RU" dirty="0"/>
              <a:t>Квадрат</a:t>
            </a:r>
            <a:r>
              <a:rPr lang="en-US" dirty="0"/>
              <a:t>)</a:t>
            </a:r>
            <a:r>
              <a:rPr lang="ru-RU" dirty="0"/>
              <a:t>. Используя понятие множественного наследования, разработайте класс </a:t>
            </a:r>
            <a:r>
              <a:rPr lang="en-US" sz="2400" i="1" dirty="0" err="1">
                <a:latin typeface="Consolas" panose="020B0609020204030204" pitchFamily="49" charset="0"/>
              </a:rPr>
              <a:t>CircleInSquare</a:t>
            </a:r>
            <a:r>
              <a:rPr lang="en-US" dirty="0"/>
              <a:t> </a:t>
            </a:r>
            <a:r>
              <a:rPr lang="ru-RU" dirty="0"/>
              <a:t>«Окружность, вписанная в квадрат»</a:t>
            </a:r>
          </a:p>
        </p:txBody>
      </p:sp>
    </p:spTree>
    <p:extLst>
      <p:ext uri="{BB962C8B-B14F-4D97-AF65-F5344CB8AC3E}">
        <p14:creationId xmlns:p14="http://schemas.microsoft.com/office/powerpoint/2010/main" val="49439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F41FA2-A0B8-4632-AD63-5AEE51B87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3746"/>
          </a:xfrm>
        </p:spPr>
        <p:txBody>
          <a:bodyPr>
            <a:normAutofit fontScale="90000"/>
          </a:bodyPr>
          <a:lstStyle/>
          <a:p>
            <a:r>
              <a:rPr lang="ru-RU" dirty="0"/>
              <a:t>Этап 2.1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24A699-71F6-4A29-8068-7AFE426D2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73188"/>
            <a:ext cx="10515600" cy="1111624"/>
          </a:xfrm>
        </p:spPr>
        <p:txBody>
          <a:bodyPr>
            <a:normAutofit/>
          </a:bodyPr>
          <a:lstStyle/>
          <a:p>
            <a:r>
              <a:rPr lang="ru-RU" dirty="0"/>
              <a:t>Сделать класс </a:t>
            </a:r>
            <a:r>
              <a:rPr lang="en-US" i="1" dirty="0"/>
              <a:t>Shape</a:t>
            </a:r>
            <a:r>
              <a:rPr lang="ru-RU" dirty="0"/>
              <a:t> абстрактным</a:t>
            </a:r>
          </a:p>
          <a:p>
            <a:r>
              <a:rPr lang="ru-RU" dirty="0"/>
              <a:t>Добавить виртуальный метод подсчёта площади фигуры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741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3EE81-1F55-45E7-AD65-AD45FAE98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629957"/>
          </a:xfrm>
        </p:spPr>
        <p:txBody>
          <a:bodyPr>
            <a:normAutofit fontScale="90000"/>
          </a:bodyPr>
          <a:lstStyle/>
          <a:p>
            <a:r>
              <a:rPr lang="ru-RU" dirty="0"/>
              <a:t>Этап </a:t>
            </a:r>
            <a:r>
              <a:rPr lang="en-US" dirty="0"/>
              <a:t>2</a:t>
            </a:r>
            <a:r>
              <a:rPr lang="ru-RU" dirty="0"/>
              <a:t>.2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6370126-BB1A-418F-B7BA-193BEC0019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0330" y="995082"/>
                <a:ext cx="11851340" cy="5432612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ru-RU" sz="3600" dirty="0"/>
                  <a:t>Создать класс</a:t>
                </a:r>
                <a:r>
                  <a:rPr lang="en-US" sz="3600" dirty="0"/>
                  <a:t> </a:t>
                </a:r>
                <a:r>
                  <a:rPr lang="en-US" sz="3600" i="1" dirty="0"/>
                  <a:t>Circle </a:t>
                </a:r>
                <a:r>
                  <a:rPr lang="en-US" sz="3600" dirty="0"/>
                  <a:t>(</a:t>
                </a:r>
                <a:r>
                  <a:rPr lang="ru-RU" sz="3600" dirty="0"/>
                  <a:t>окружность</a:t>
                </a:r>
                <a:r>
                  <a:rPr lang="en-US" sz="3600" dirty="0"/>
                  <a:t>), </a:t>
                </a:r>
                <a:r>
                  <a:rPr lang="ru-RU" sz="3600" dirty="0"/>
                  <a:t>публично наследуемый от класса </a:t>
                </a:r>
                <a:r>
                  <a:rPr lang="en-US" sz="3600" i="1" dirty="0"/>
                  <a:t>Shape</a:t>
                </a:r>
                <a:r>
                  <a:rPr lang="ru-RU" sz="3600" dirty="0"/>
                  <a:t> и содержащий:</a:t>
                </a:r>
              </a:p>
              <a:p>
                <a:pPr lvl="1" algn="just"/>
                <a:r>
                  <a:rPr lang="en-US" sz="3200" i="1" dirty="0"/>
                  <a:t>Private</a:t>
                </a:r>
                <a:r>
                  <a:rPr lang="ru-RU" sz="3200" dirty="0"/>
                  <a:t> поля:</a:t>
                </a:r>
              </a:p>
              <a:p>
                <a:pPr lvl="2" algn="just"/>
                <a:r>
                  <a:rPr lang="ru-RU" sz="2800" dirty="0"/>
                  <a:t>Радиус</a:t>
                </a:r>
                <a:endParaRPr lang="ru-RU" sz="2800" i="1" dirty="0"/>
              </a:p>
              <a:p>
                <a:pPr lvl="2" algn="just"/>
                <a:r>
                  <a:rPr lang="ru-RU" sz="2800" dirty="0"/>
                  <a:t>Статическое константное поле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=3.14</m:t>
                    </m:r>
                  </m:oMath>
                </a14:m>
                <a:endParaRPr lang="ru-RU" sz="2800" i="1" dirty="0"/>
              </a:p>
              <a:p>
                <a:pPr lvl="1" algn="just"/>
                <a:r>
                  <a:rPr lang="en-US" sz="3200" i="1" dirty="0"/>
                  <a:t>Public</a:t>
                </a:r>
                <a:r>
                  <a:rPr lang="en-US" sz="3200" dirty="0"/>
                  <a:t> </a:t>
                </a:r>
                <a:r>
                  <a:rPr lang="ru-RU" sz="3200" dirty="0"/>
                  <a:t>методы:</a:t>
                </a:r>
              </a:p>
              <a:p>
                <a:pPr lvl="2" algn="just"/>
                <a:r>
                  <a:rPr lang="ru-RU" sz="2800" dirty="0"/>
                  <a:t>Конструктор (помимо своего поля должны инициализироваться поля родительского класса)</a:t>
                </a:r>
              </a:p>
              <a:p>
                <a:pPr marL="1371600" lvl="3" indent="0" algn="just">
                  <a:buNone/>
                </a:pPr>
                <a:r>
                  <a:rPr lang="ru-RU" sz="2600" dirty="0"/>
                  <a:t>Примечание: конструктор должен иметь значения по умолчанию</a:t>
                </a:r>
              </a:p>
              <a:p>
                <a:pPr lvl="2" algn="just"/>
                <a:r>
                  <a:rPr lang="ru-RU" sz="2800" dirty="0"/>
                  <a:t>Геттер и сеттер</a:t>
                </a:r>
              </a:p>
              <a:p>
                <a:pPr lvl="2" algn="just"/>
                <a:r>
                  <a:rPr lang="ru-RU" sz="2800" dirty="0"/>
                  <a:t>Реализацию виртуальных методов родительского класса </a:t>
                </a:r>
                <a:r>
                  <a:rPr lang="en-US" sz="2800" i="1" dirty="0"/>
                  <a:t>Shape</a:t>
                </a:r>
                <a:endParaRPr lang="ru-RU" sz="2800" dirty="0"/>
              </a:p>
              <a:p>
                <a:pPr lvl="2" algn="just"/>
                <a:endParaRPr lang="ru-RU" sz="2800" dirty="0"/>
              </a:p>
              <a:p>
                <a:pPr lvl="2" algn="just"/>
                <a:endParaRPr lang="ru-RU" sz="2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6370126-BB1A-418F-B7BA-193BEC0019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30" y="995082"/>
                <a:ext cx="11851340" cy="5432612"/>
              </a:xfrm>
              <a:blipFill>
                <a:blip r:embed="rId2"/>
                <a:stretch>
                  <a:fillRect l="-1440" t="-2694" r="-15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5202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88632-E40F-4F61-AFB4-23FA07C99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53616"/>
          </a:xfrm>
        </p:spPr>
        <p:txBody>
          <a:bodyPr>
            <a:normAutofit fontScale="90000"/>
          </a:bodyPr>
          <a:lstStyle/>
          <a:p>
            <a:r>
              <a:rPr lang="ru-RU" dirty="0"/>
              <a:t>Этап </a:t>
            </a:r>
            <a:r>
              <a:rPr lang="en-US" dirty="0"/>
              <a:t>2</a:t>
            </a:r>
            <a:r>
              <a:rPr lang="ru-RU" dirty="0"/>
              <a:t>.3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D3FC94-9446-4DD1-A6A3-3BF2BCD0C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223" y="1344706"/>
            <a:ext cx="11797553" cy="4778188"/>
          </a:xfrm>
        </p:spPr>
        <p:txBody>
          <a:bodyPr>
            <a:normAutofit/>
          </a:bodyPr>
          <a:lstStyle/>
          <a:p>
            <a:pPr algn="just"/>
            <a:r>
              <a:rPr lang="ru-RU" sz="3600" dirty="0"/>
              <a:t>Создать класс</a:t>
            </a:r>
            <a:r>
              <a:rPr lang="en-US" sz="3600" dirty="0"/>
              <a:t> </a:t>
            </a:r>
            <a:r>
              <a:rPr lang="en-US" sz="3600" i="1" dirty="0"/>
              <a:t>Square </a:t>
            </a:r>
            <a:r>
              <a:rPr lang="en-US" sz="3600" dirty="0"/>
              <a:t>(</a:t>
            </a:r>
            <a:r>
              <a:rPr lang="ru-RU" sz="3600" dirty="0"/>
              <a:t>квадрат</a:t>
            </a:r>
            <a:r>
              <a:rPr lang="en-US" sz="3600" dirty="0"/>
              <a:t>), </a:t>
            </a:r>
            <a:r>
              <a:rPr lang="ru-RU" sz="3600" dirty="0"/>
              <a:t>публично наследуемый от класса </a:t>
            </a:r>
            <a:r>
              <a:rPr lang="en-US" sz="3600" i="1" dirty="0"/>
              <a:t>Shape</a:t>
            </a:r>
            <a:r>
              <a:rPr lang="ru-RU" sz="3600" dirty="0"/>
              <a:t> и содержащий:</a:t>
            </a:r>
          </a:p>
          <a:p>
            <a:pPr lvl="1" algn="just"/>
            <a:r>
              <a:rPr lang="en-US" sz="3200" i="1" dirty="0"/>
              <a:t>Private</a:t>
            </a:r>
            <a:r>
              <a:rPr lang="ru-RU" sz="3200" dirty="0"/>
              <a:t> поля:</a:t>
            </a:r>
          </a:p>
          <a:p>
            <a:pPr lvl="2" algn="just"/>
            <a:r>
              <a:rPr lang="ru-RU" sz="2800" dirty="0"/>
              <a:t>Сторона квадрата</a:t>
            </a:r>
            <a:endParaRPr lang="ru-RU" sz="2800" i="1" dirty="0"/>
          </a:p>
          <a:p>
            <a:pPr lvl="1" algn="just"/>
            <a:r>
              <a:rPr lang="en-US" sz="3200" i="1" dirty="0"/>
              <a:t>Public</a:t>
            </a:r>
            <a:r>
              <a:rPr lang="en-US" sz="3200" dirty="0"/>
              <a:t> </a:t>
            </a:r>
            <a:r>
              <a:rPr lang="ru-RU" sz="3200" dirty="0"/>
              <a:t>методы:</a:t>
            </a:r>
          </a:p>
          <a:p>
            <a:pPr lvl="2" algn="just"/>
            <a:r>
              <a:rPr lang="ru-RU" sz="2800" dirty="0"/>
              <a:t>Конструктор (помимо своего поля должны инициализироваться поля родительского класса)</a:t>
            </a:r>
          </a:p>
          <a:p>
            <a:pPr marL="1371600" lvl="3" indent="0" algn="just">
              <a:buNone/>
            </a:pPr>
            <a:r>
              <a:rPr lang="ru-RU" sz="2600" dirty="0"/>
              <a:t>Примечание: конструктор должен иметь значения по умолчанию</a:t>
            </a:r>
          </a:p>
          <a:p>
            <a:pPr lvl="2" algn="just"/>
            <a:r>
              <a:rPr lang="ru-RU" sz="2800" dirty="0"/>
              <a:t>Геттер и сеттер</a:t>
            </a:r>
          </a:p>
          <a:p>
            <a:pPr lvl="2" algn="just"/>
            <a:r>
              <a:rPr lang="ru-RU" sz="2800" dirty="0"/>
              <a:t>Реализацию виртуальных методов родительского класса </a:t>
            </a:r>
            <a:r>
              <a:rPr lang="en-US" sz="2800" i="1" dirty="0"/>
              <a:t>Shape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290551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86540C-C824-4D15-863E-55B30F996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ru-RU" dirty="0"/>
              <a:t>Этап 2.4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11BEDA-4680-4042-8181-F1EF8E362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7" y="1228165"/>
            <a:ext cx="11474824" cy="4948798"/>
          </a:xfrm>
        </p:spPr>
        <p:txBody>
          <a:bodyPr>
            <a:normAutofit/>
          </a:bodyPr>
          <a:lstStyle/>
          <a:p>
            <a:pPr algn="just"/>
            <a:r>
              <a:rPr lang="ru-RU" sz="3600" dirty="0"/>
              <a:t>Создать класс</a:t>
            </a:r>
            <a:r>
              <a:rPr lang="en-US" sz="3600" dirty="0"/>
              <a:t> </a:t>
            </a:r>
            <a:r>
              <a:rPr lang="en-US" sz="3200" i="1" dirty="0" err="1">
                <a:latin typeface="Consolas" panose="020B0609020204030204" pitchFamily="49" charset="0"/>
              </a:rPr>
              <a:t>CircleInSquare</a:t>
            </a:r>
            <a:r>
              <a:rPr lang="en-US" sz="3600" i="1" dirty="0"/>
              <a:t> </a:t>
            </a:r>
            <a:r>
              <a:rPr lang="en-US" sz="3600" dirty="0"/>
              <a:t>(</a:t>
            </a:r>
            <a:r>
              <a:rPr lang="ru-RU" sz="3600" dirty="0"/>
              <a:t>окружность, вписанная в квадрат</a:t>
            </a:r>
            <a:r>
              <a:rPr lang="en-US" sz="3600" dirty="0"/>
              <a:t>), </a:t>
            </a:r>
            <a:r>
              <a:rPr lang="ru-RU" sz="3600" dirty="0"/>
              <a:t>публично наследуемый от классов </a:t>
            </a:r>
            <a:r>
              <a:rPr lang="en-US" sz="3600" i="1" dirty="0"/>
              <a:t>Square</a:t>
            </a:r>
            <a:r>
              <a:rPr lang="ru-RU" sz="3600" dirty="0"/>
              <a:t> и</a:t>
            </a:r>
            <a:r>
              <a:rPr lang="en-US" sz="3600" dirty="0"/>
              <a:t> </a:t>
            </a:r>
            <a:r>
              <a:rPr lang="en-US" sz="3600" i="1" dirty="0"/>
              <a:t>Circle</a:t>
            </a:r>
            <a:r>
              <a:rPr lang="en-US" sz="3600" dirty="0"/>
              <a:t> </a:t>
            </a:r>
            <a:r>
              <a:rPr lang="ru-RU" sz="3600" dirty="0"/>
              <a:t>содержащий:</a:t>
            </a:r>
          </a:p>
          <a:p>
            <a:pPr lvl="1" algn="just"/>
            <a:r>
              <a:rPr lang="en-US" sz="3200" i="1" dirty="0"/>
              <a:t>Public</a:t>
            </a:r>
            <a:r>
              <a:rPr lang="en-US" sz="3200" dirty="0"/>
              <a:t> </a:t>
            </a:r>
            <a:r>
              <a:rPr lang="ru-RU" sz="3200" dirty="0"/>
              <a:t>методы:</a:t>
            </a:r>
          </a:p>
          <a:p>
            <a:pPr lvl="2" algn="just"/>
            <a:r>
              <a:rPr lang="ru-RU" sz="2800" dirty="0"/>
              <a:t>Конструктор (помимо своего поля должны инициализироваться поля родительского класса)</a:t>
            </a:r>
          </a:p>
          <a:p>
            <a:pPr marL="1371600" lvl="3" indent="0" algn="just">
              <a:buNone/>
            </a:pPr>
            <a:r>
              <a:rPr lang="ru-RU" sz="2600" dirty="0"/>
              <a:t>Примечание: конструктор должен иметь значения по умолчанию</a:t>
            </a:r>
          </a:p>
          <a:p>
            <a:pPr lvl="2" algn="just"/>
            <a:r>
              <a:rPr lang="ru-RU" sz="2800" dirty="0"/>
              <a:t>Геттер и сеттер</a:t>
            </a:r>
          </a:p>
          <a:p>
            <a:pPr lvl="2" algn="just"/>
            <a:r>
              <a:rPr lang="ru-RU" sz="2800" dirty="0"/>
              <a:t>Реализацию виртуальных методов родительского класса </a:t>
            </a:r>
            <a:r>
              <a:rPr lang="en-US" sz="2800" i="1" dirty="0"/>
              <a:t>Shape</a:t>
            </a:r>
            <a:endParaRPr lang="ru-RU" sz="2800" i="1" dirty="0"/>
          </a:p>
          <a:p>
            <a:pPr lvl="2" algn="just"/>
            <a:r>
              <a:rPr lang="ru-RU" sz="2800" dirty="0"/>
              <a:t>Проверку на «вхождение» окружности в квадрат</a:t>
            </a:r>
            <a:r>
              <a:rPr lang="ru-RU" sz="2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680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9D9881-8661-4B36-AE63-D132A9397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/>
          <a:lstStyle/>
          <a:p>
            <a:r>
              <a:rPr lang="ru-RU" dirty="0"/>
              <a:t>Таблица наследования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A463B3-0CC5-4E89-B347-4E0A3EB0B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812"/>
            <a:ext cx="10515600" cy="4859151"/>
          </a:xfrm>
        </p:spPr>
        <p:txBody>
          <a:bodyPr/>
          <a:lstStyle/>
          <a:p>
            <a:r>
              <a:rPr lang="ru-RU"/>
              <a:t>Будет позже…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39607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533</Words>
  <Application>Microsoft Office PowerPoint</Application>
  <PresentationFormat>Широкоэкранный</PresentationFormat>
  <Paragraphs>102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Cascadia Mono</vt:lpstr>
      <vt:lpstr>Consolas</vt:lpstr>
      <vt:lpstr>Тема Office</vt:lpstr>
      <vt:lpstr>Наследование. Практика</vt:lpstr>
      <vt:lpstr>Задача 1</vt:lpstr>
      <vt:lpstr>Этап 1.1</vt:lpstr>
      <vt:lpstr>Rule-of-Five на примере MyClass</vt:lpstr>
      <vt:lpstr>Rule-of-Five на примере MyClass</vt:lpstr>
      <vt:lpstr>Этап 1.2</vt:lpstr>
      <vt:lpstr>Этап 1.3</vt:lpstr>
      <vt:lpstr>Тестирование</vt:lpstr>
      <vt:lpstr>Задача 2</vt:lpstr>
      <vt:lpstr>Этап 2.1</vt:lpstr>
      <vt:lpstr>Этап 2.2</vt:lpstr>
      <vt:lpstr>Этап 2.3</vt:lpstr>
      <vt:lpstr>Этап 2.4</vt:lpstr>
      <vt:lpstr>Таблица наследования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Наследование. Практика</dc:title>
  <dc:creator>varitch.rodion.2@gmail.com</dc:creator>
  <cp:lastModifiedBy>teacher</cp:lastModifiedBy>
  <cp:revision>50</cp:revision>
  <dcterms:created xsi:type="dcterms:W3CDTF">2025-11-11T12:02:01Z</dcterms:created>
  <dcterms:modified xsi:type="dcterms:W3CDTF">2025-11-11T18:51:44Z</dcterms:modified>
</cp:coreProperties>
</file>